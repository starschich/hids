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0" r:id="rId4"/>
    <p:sldId id="258" r:id="rId5"/>
    <p:sldId id="281" r:id="rId6"/>
    <p:sldId id="283" r:id="rId7"/>
    <p:sldId id="282" r:id="rId8"/>
    <p:sldId id="284" r:id="rId9"/>
    <p:sldId id="287" r:id="rId10"/>
    <p:sldId id="285" r:id="rId11"/>
    <p:sldId id="28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+qktsmFGBo0zLgoHKOMLnb4YX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9C58C4-57B5-420C-9F3E-29DFCB56FB01}" v="2" dt="2025-04-11T13:29:53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48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schich, Eugen" userId="26490f84-3a52-4393-8e46-f0cdfb6c1e50" providerId="ADAL" clId="{DB9C58C4-57B5-420C-9F3E-29DFCB56FB01}"/>
    <pc:docChg chg="custSel addSld modSld">
      <pc:chgData name="Starschich, Eugen" userId="26490f84-3a52-4393-8e46-f0cdfb6c1e50" providerId="ADAL" clId="{DB9C58C4-57B5-420C-9F3E-29DFCB56FB01}" dt="2025-04-11T13:42:12.042" v="587" actId="20577"/>
      <pc:docMkLst>
        <pc:docMk/>
      </pc:docMkLst>
      <pc:sldChg chg="addSp delSp modSp add mod">
        <pc:chgData name="Starschich, Eugen" userId="26490f84-3a52-4393-8e46-f0cdfb6c1e50" providerId="ADAL" clId="{DB9C58C4-57B5-420C-9F3E-29DFCB56FB01}" dt="2025-04-11T13:42:12.042" v="587" actId="20577"/>
        <pc:sldMkLst>
          <pc:docMk/>
          <pc:sldMk cId="2712047640" sldId="287"/>
        </pc:sldMkLst>
        <pc:spChg chg="add mod">
          <ac:chgData name="Starschich, Eugen" userId="26490f84-3a52-4393-8e46-f0cdfb6c1e50" providerId="ADAL" clId="{DB9C58C4-57B5-420C-9F3E-29DFCB56FB01}" dt="2025-04-11T13:42:12.042" v="587" actId="20577"/>
          <ac:spMkLst>
            <pc:docMk/>
            <pc:sldMk cId="2712047640" sldId="287"/>
            <ac:spMk id="2" creationId="{3DC8A95F-182C-6CEE-CECF-33D51A75C455}"/>
          </ac:spMkLst>
        </pc:spChg>
        <pc:spChg chg="del">
          <ac:chgData name="Starschich, Eugen" userId="26490f84-3a52-4393-8e46-f0cdfb6c1e50" providerId="ADAL" clId="{DB9C58C4-57B5-420C-9F3E-29DFCB56FB01}" dt="2025-04-11T13:27:03.062" v="23" actId="478"/>
          <ac:spMkLst>
            <pc:docMk/>
            <pc:sldMk cId="2712047640" sldId="287"/>
            <ac:spMk id="10" creationId="{68EFEBDF-F8A3-410B-A8BC-64959D2E782D}"/>
          </ac:spMkLst>
        </pc:spChg>
        <pc:spChg chg="mod">
          <ac:chgData name="Starschich, Eugen" userId="26490f84-3a52-4393-8e46-f0cdfb6c1e50" providerId="ADAL" clId="{DB9C58C4-57B5-420C-9F3E-29DFCB56FB01}" dt="2025-04-11T13:28:08.727" v="25" actId="20577"/>
          <ac:spMkLst>
            <pc:docMk/>
            <pc:sldMk cId="2712047640" sldId="287"/>
            <ac:spMk id="78" creationId="{641A38A3-60CF-9133-4D4F-CD9E1FA06CA7}"/>
          </ac:spMkLst>
        </pc:spChg>
        <pc:picChg chg="del">
          <ac:chgData name="Starschich, Eugen" userId="26490f84-3a52-4393-8e46-f0cdfb6c1e50" providerId="ADAL" clId="{DB9C58C4-57B5-420C-9F3E-29DFCB56FB01}" dt="2025-04-11T13:27:00.324" v="21" actId="478"/>
          <ac:picMkLst>
            <pc:docMk/>
            <pc:sldMk cId="2712047640" sldId="287"/>
            <ac:picMk id="6" creationId="{F4768E04-135C-F08B-DD6B-934713F62CFE}"/>
          </ac:picMkLst>
        </pc:picChg>
        <pc:picChg chg="del">
          <ac:chgData name="Starschich, Eugen" userId="26490f84-3a52-4393-8e46-f0cdfb6c1e50" providerId="ADAL" clId="{DB9C58C4-57B5-420C-9F3E-29DFCB56FB01}" dt="2025-04-11T13:27:00.997" v="22" actId="478"/>
          <ac:picMkLst>
            <pc:docMk/>
            <pc:sldMk cId="2712047640" sldId="287"/>
            <ac:picMk id="9" creationId="{C2E1DF61-5F93-212F-777D-9E62EB1623C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1B78539-CB21-64C6-ECD8-8453B05D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03FF340-4C3B-AE4E-C3F8-1A5A17F88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97B995C-F4D8-E7DC-A6DF-4DF96C152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9827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466074BE-CFD3-3A66-6474-4631B7B8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C490FAFF-C840-2F06-CC5D-B373B896D8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A8DAC33A-CA65-D660-5025-37E8A5291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5922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71E7491-A63E-A716-6FCE-7972B6EE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7750E16C-402C-3B05-0E87-7135D52A6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22EDAB21-A0EF-A4A6-5180-2E578689B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6746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647BD4B-7CBD-0DDB-9983-464D5728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6993FDB1-F57E-BBF3-0254-3CD3728C08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D58C4A0E-E62F-A92C-F96D-D85F71D37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6858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5D4F73F1-5E87-0A66-36F9-57A82381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6C211D34-9783-468E-2DE0-4FCB31E521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752E86EC-8C87-8302-FCC7-1A6CFC3CF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2469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8C3F6523-26E1-23C0-D18D-0F39B617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:notes">
            <a:extLst>
              <a:ext uri="{FF2B5EF4-FFF2-40B4-BE49-F238E27FC236}">
                <a16:creationId xmlns:a16="http://schemas.microsoft.com/office/drawing/2014/main" id="{7E5AF1AE-1B83-8D6C-9A05-3A50BB680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9:notes">
            <a:extLst>
              <a:ext uri="{FF2B5EF4-FFF2-40B4-BE49-F238E27FC236}">
                <a16:creationId xmlns:a16="http://schemas.microsoft.com/office/drawing/2014/main" id="{3B35716A-B8AC-A84B-B9D8-84D775563C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6045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98B3348-12CB-BD88-60C3-8B6AF9224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5FB3FB38-92E8-C1E6-FB16-94BA5D03E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A1EDCCFC-E3B3-B9C7-A0F7-624961121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3522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733F4AC4-92E9-5925-0DB9-B305565B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9FC75672-3CCB-AC57-677F-8C9C77579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17E0689A-F51D-0437-7B10-276C9213AD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844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8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Example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8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8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24" name="Google Shape;24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8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" name="Google Shape;26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7;p8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ECE 652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7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12" name="Google Shape;12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7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7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7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0</a:t>
            </a:r>
            <a:r>
              <a:rPr lang="en-DE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DE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nsulation</a:t>
            </a:r>
            <a:r>
              <a:rPr lang="en-D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Coordination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Insulation Coordination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AF3C6-AF75-14CE-6237-C29D9614462C}"/>
              </a:ext>
            </a:extLst>
          </p:cNvPr>
          <p:cNvSpPr txBox="1"/>
          <p:nvPr/>
        </p:nvSpPr>
        <p:spPr>
          <a:xfrm>
            <a:off x="1339098" y="1932808"/>
            <a:ext cx="9586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000" dirty="0"/>
              <a:t>“</a:t>
            </a:r>
            <a:r>
              <a:rPr lang="en-US" sz="2000" i="1" dirty="0"/>
              <a:t>The selection of </a:t>
            </a:r>
            <a:r>
              <a:rPr lang="en-US" sz="2000" b="1" i="1" dirty="0"/>
              <a:t>insulation strength</a:t>
            </a:r>
            <a:r>
              <a:rPr lang="en-US" sz="2000" i="1" dirty="0"/>
              <a:t> consistent with expected </a:t>
            </a:r>
            <a:r>
              <a:rPr lang="en-US" sz="2000" b="1" i="1" dirty="0"/>
              <a:t>overvoltages</a:t>
            </a:r>
            <a:r>
              <a:rPr lang="en-US" sz="2000" i="1" dirty="0"/>
              <a:t> to</a:t>
            </a:r>
            <a:r>
              <a:rPr lang="en-DE" sz="2000" i="1" dirty="0"/>
              <a:t> </a:t>
            </a:r>
            <a:r>
              <a:rPr lang="en-US" sz="2000" i="1" dirty="0"/>
              <a:t>obtain an acceptable </a:t>
            </a:r>
            <a:r>
              <a:rPr lang="en-US" sz="2000" b="1" i="1" dirty="0"/>
              <a:t>risk of failure</a:t>
            </a:r>
            <a:r>
              <a:rPr lang="en-US" sz="2000" i="1" dirty="0"/>
              <a:t>.</a:t>
            </a:r>
            <a:r>
              <a:rPr lang="en-DE" sz="2000" dirty="0"/>
              <a:t>”</a:t>
            </a:r>
          </a:p>
          <a:p>
            <a:pPr algn="r"/>
            <a:r>
              <a:rPr lang="en-DE" sz="2000" b="1" dirty="0"/>
              <a:t>IEEE 1313</a:t>
            </a:r>
            <a:endParaRPr lang="en-US" sz="2000" b="1" dirty="0"/>
          </a:p>
        </p:txBody>
      </p:sp>
      <p:sp>
        <p:nvSpPr>
          <p:cNvPr id="3" name="Google Shape;79;p19">
            <a:extLst>
              <a:ext uri="{FF2B5EF4-FFF2-40B4-BE49-F238E27FC236}">
                <a16:creationId xmlns:a16="http://schemas.microsoft.com/office/drawing/2014/main" id="{7E3758DB-7FCE-7E19-D3DD-26496AC9A026}"/>
              </a:ext>
            </a:extLst>
          </p:cNvPr>
          <p:cNvSpPr txBox="1"/>
          <p:nvPr/>
        </p:nvSpPr>
        <p:spPr>
          <a:xfrm>
            <a:off x="202573" y="4046437"/>
            <a:ext cx="9730151" cy="205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cope of this module: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Overvoltages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Insulation strength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endParaRPr b="1"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DE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of failure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is a specific area which is described in the literature but goes beyond the scope of this course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ABCF511-EDCD-762E-DDA7-F9B2635FF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B867C5C1-2086-AEB4-FF18-ED3D8126A019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Overvoltages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676632-9D8C-D1E5-CAB9-BCEE109CE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744" y="1124839"/>
            <a:ext cx="5800512" cy="536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Transient </a:t>
            </a: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ervoltage in the AC grid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081692-6AE9-4B01-4F51-5A6673B8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218" y="1646787"/>
            <a:ext cx="3662159" cy="46868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6DB7E4-113E-5A2E-4BAF-DC5668F3DB9F}"/>
              </a:ext>
            </a:extLst>
          </p:cNvPr>
          <p:cNvSpPr txBox="1"/>
          <p:nvPr/>
        </p:nvSpPr>
        <p:spPr>
          <a:xfrm>
            <a:off x="5112397" y="6502553"/>
            <a:ext cx="1967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IEEE Std 1313.1-1996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51EC6-F1F8-AD26-B824-8F66110F6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652" y="1646787"/>
            <a:ext cx="3943943" cy="3693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4988E7B9-C6BA-600E-8D46-C317E1BF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3BBD79D1-C841-D9D3-4347-33666D48AC19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Transient overvoltage in the AC grid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01FD7-DD38-2A4B-3C0D-763E9FDDEED3}"/>
              </a:ext>
            </a:extLst>
          </p:cNvPr>
          <p:cNvSpPr txBox="1"/>
          <p:nvPr/>
        </p:nvSpPr>
        <p:spPr>
          <a:xfrm>
            <a:off x="4858321" y="6550223"/>
            <a:ext cx="2475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IEEE Std C57.12.00™-2021 </a:t>
            </a:r>
          </a:p>
        </p:txBody>
      </p:sp>
      <p:sp>
        <p:nvSpPr>
          <p:cNvPr id="2" name="Google Shape;79;p19">
            <a:extLst>
              <a:ext uri="{FF2B5EF4-FFF2-40B4-BE49-F238E27FC236}">
                <a16:creationId xmlns:a16="http://schemas.microsoft.com/office/drawing/2014/main" id="{CB406E6C-D16F-54DD-E0C8-E781B686C0DE}"/>
              </a:ext>
            </a:extLst>
          </p:cNvPr>
          <p:cNvSpPr txBox="1"/>
          <p:nvPr/>
        </p:nvSpPr>
        <p:spPr>
          <a:xfrm>
            <a:off x="115900" y="1563142"/>
            <a:ext cx="9730151" cy="130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vervoltage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AC grid 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grid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 the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experience of the world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taking into account protective devices and methods of overvoltage limitation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AC equipment other overvoltage levels can be specified: e.g. Transformers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46CB38-B8C1-72B9-1959-EFB6523F9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137" y="2928247"/>
            <a:ext cx="7812244" cy="350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3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8F46EE20-9DDC-055B-8065-AC7CBEB6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CA630E03-AFFD-DFB2-4D19-6F4864058B73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Temporary overvoltage in the AC grid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36F89-F723-06B1-6893-49B919A4F450}"/>
              </a:ext>
            </a:extLst>
          </p:cNvPr>
          <p:cNvSpPr txBox="1"/>
          <p:nvPr/>
        </p:nvSpPr>
        <p:spPr>
          <a:xfrm>
            <a:off x="5346787" y="6387623"/>
            <a:ext cx="6811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PRC-024-3 —Frequency and Voltage Protection Settings for Generating Resources</a:t>
            </a:r>
          </a:p>
        </p:txBody>
      </p:sp>
      <p:sp>
        <p:nvSpPr>
          <p:cNvPr id="2" name="Google Shape;79;p19">
            <a:extLst>
              <a:ext uri="{FF2B5EF4-FFF2-40B4-BE49-F238E27FC236}">
                <a16:creationId xmlns:a16="http://schemas.microsoft.com/office/drawing/2014/main" id="{2B719D96-DC64-2CEB-69C8-D5209189ED8C}"/>
              </a:ext>
            </a:extLst>
          </p:cNvPr>
          <p:cNvSpPr txBox="1"/>
          <p:nvPr/>
        </p:nvSpPr>
        <p:spPr>
          <a:xfrm>
            <a:off x="115900" y="1563141"/>
            <a:ext cx="5678189" cy="248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emporary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overvoltages are defined by grid codes such as IEEE 2800 or NERC PRC-024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Temporary overvoltages do not have an impact on the insulation coordination in the AC grid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07CEE4-B121-DE03-BE12-01A7E9CFD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089" y="1776796"/>
            <a:ext cx="6218686" cy="432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1390C990-135F-35B8-1A18-F5C6C9DD0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1BE61B8F-041B-A72A-AF7D-21E268DCCB5F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Insulation strength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D45699-450A-60BF-4DD8-D2BFFD23B8DF}"/>
              </a:ext>
            </a:extLst>
          </p:cNvPr>
          <p:cNvSpPr txBox="1"/>
          <p:nvPr/>
        </p:nvSpPr>
        <p:spPr>
          <a:xfrm>
            <a:off x="9957509" y="6007416"/>
            <a:ext cx="162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www.highvolt.com</a:t>
            </a:r>
            <a:endParaRPr lang="en-US" dirty="0"/>
          </a:p>
        </p:txBody>
      </p:sp>
      <p:sp>
        <p:nvSpPr>
          <p:cNvPr id="2" name="Google Shape;79;p19">
            <a:extLst>
              <a:ext uri="{FF2B5EF4-FFF2-40B4-BE49-F238E27FC236}">
                <a16:creationId xmlns:a16="http://schemas.microsoft.com/office/drawing/2014/main" id="{639FB115-3B1E-86B3-13F3-50B867C52586}"/>
              </a:ext>
            </a:extLst>
          </p:cNvPr>
          <p:cNvSpPr txBox="1"/>
          <p:nvPr/>
        </p:nvSpPr>
        <p:spPr>
          <a:xfrm>
            <a:off x="115900" y="1563141"/>
            <a:ext cx="9730151" cy="171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Insulation strength can be verified by: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marR="0" lvl="0" indent="-358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+mj-lt"/>
              <a:buAutoNum type="arabicPeriod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in a high voltage lab</a:t>
            </a:r>
          </a:p>
          <a:p>
            <a:pPr marL="719138" marR="0" lvl="0" indent="-358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+mj-lt"/>
              <a:buAutoNum type="arabicPeriod"/>
            </a:pPr>
            <a:r>
              <a: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air clearances</a:t>
            </a: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large industrial plant with large pipes&#10;&#10;AI-generated content may be incorrect.">
            <a:extLst>
              <a:ext uri="{FF2B5EF4-FFF2-40B4-BE49-F238E27FC236}">
                <a16:creationId xmlns:a16="http://schemas.microsoft.com/office/drawing/2014/main" id="{93DA967E-0033-FC55-BCF0-FBBB77D8B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919" y="3196972"/>
            <a:ext cx="5130232" cy="3209067"/>
          </a:xfrm>
          <a:prstGeom prst="rect">
            <a:avLst/>
          </a:prstGeom>
        </p:spPr>
      </p:pic>
      <p:pic>
        <p:nvPicPr>
          <p:cNvPr id="8" name="Picture 7" descr="A large room with a large tower&#10;&#10;AI-generated content may be incorrect.">
            <a:extLst>
              <a:ext uri="{FF2B5EF4-FFF2-40B4-BE49-F238E27FC236}">
                <a16:creationId xmlns:a16="http://schemas.microsoft.com/office/drawing/2014/main" id="{C18DECAA-9D09-162D-3D2E-EF436927D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9716" y="850584"/>
            <a:ext cx="2704558" cy="406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2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CDD62FF5-CDE7-DA4A-7D5D-A21A9B6D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691267A7-DEAB-60EC-1287-38383C95699A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 clearances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F3DC15-37BB-85F8-2DE4-A28CDCBDE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81" y="1044408"/>
            <a:ext cx="3862637" cy="5488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DC3079-ECA9-A9E1-AA20-9B19DD01D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937" y="1044408"/>
            <a:ext cx="4389268" cy="3251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117F7B-415C-A0B7-DE0E-0C6F413E47A9}"/>
              </a:ext>
            </a:extLst>
          </p:cNvPr>
          <p:cNvSpPr txBox="1"/>
          <p:nvPr/>
        </p:nvSpPr>
        <p:spPr>
          <a:xfrm>
            <a:off x="7240219" y="5813592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IEC 60071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369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2DCA3ABB-9B64-2794-4872-A889C4AC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>
            <a:extLst>
              <a:ext uri="{FF2B5EF4-FFF2-40B4-BE49-F238E27FC236}">
                <a16:creationId xmlns:a16="http://schemas.microsoft.com/office/drawing/2014/main" id="{641A38A3-60CF-9133-4D4F-CD9E1FA06CA7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Environmental conditions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9;p19">
            <a:extLst>
              <a:ext uri="{FF2B5EF4-FFF2-40B4-BE49-F238E27FC236}">
                <a16:creationId xmlns:a16="http://schemas.microsoft.com/office/drawing/2014/main" id="{3DC8A95F-182C-6CEE-CECF-33D51A75C455}"/>
              </a:ext>
            </a:extLst>
          </p:cNvPr>
          <p:cNvSpPr txBox="1"/>
          <p:nvPr/>
        </p:nvSpPr>
        <p:spPr>
          <a:xfrm>
            <a:off x="115900" y="1719153"/>
            <a:ext cx="11740964" cy="506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vervoltages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apply for “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environmental conditions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and “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reference atmospheric conditions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as defined in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IEC 60071-1 chapter “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5.9 Environmental conditions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environmental conditions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Temperature range -40°C / +40°C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Altitude &lt; 1000m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</a:t>
            </a:r>
            <a:r>
              <a:rPr lang="en-US" sz="20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mbient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air is not significantly polluted</a:t>
            </a: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reference atmospheric conditions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specified overvoltages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Temperature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: 20°C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Pressure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sv-S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sv-SE" sz="2000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sv-S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1 013 hPa (1 013 mbar) 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bsolute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h0 = 11 g/m3</a:t>
            </a: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 outdoor conditions “</a:t>
            </a:r>
            <a:r>
              <a:rPr lang="en-DE" sz="20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temperatur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” and “absolute </a:t>
            </a:r>
            <a:r>
              <a:rPr lang="en-DE" sz="20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humidty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” compensate each other, so t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ha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 the values can be applied and no correction is required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For indoor applications correction according to </a:t>
            </a: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IEC 60060-1</a:t>
            </a:r>
            <a:r>
              <a:rPr lang="en-DE" sz="20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is required</a:t>
            </a: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360363" lvl="2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2047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5ECEFB5-AC67-33BB-329C-725444FD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AAB51961-3007-DF0A-7A50-74EBACEFEBCD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Overvoltage definition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9;p19">
            <a:extLst>
              <a:ext uri="{FF2B5EF4-FFF2-40B4-BE49-F238E27FC236}">
                <a16:creationId xmlns:a16="http://schemas.microsoft.com/office/drawing/2014/main" id="{5B60B9AB-5BBF-D1F3-5059-CC6A42009653}"/>
              </a:ext>
            </a:extLst>
          </p:cNvPr>
          <p:cNvSpPr txBox="1"/>
          <p:nvPr/>
        </p:nvSpPr>
        <p:spPr>
          <a:xfrm>
            <a:off x="115900" y="1522300"/>
            <a:ext cx="9730151" cy="245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vervoltages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inside the converte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are not based on the experience values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the overvoltages must be based on EMT type simulations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Modelling of the components must be adjusted to the anticipated analysis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time step must be appropriate to the simulation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3598DB-6792-FD1D-E5F9-1CA1878B8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111" y="3858094"/>
            <a:ext cx="6550844" cy="23260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1F29EB-642E-1705-73BA-E103879BFA01}"/>
              </a:ext>
            </a:extLst>
          </p:cNvPr>
          <p:cNvSpPr txBox="1"/>
          <p:nvPr/>
        </p:nvSpPr>
        <p:spPr>
          <a:xfrm>
            <a:off x="5297123" y="6184118"/>
            <a:ext cx="6458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Transformer representation considering capacitive effects inside the transformer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91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1192222-FC10-0CAC-9FA0-C5D430E93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104B0C-C6A9-3C13-DAF1-26C96F6DC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622" y="1172086"/>
            <a:ext cx="5375690" cy="4812684"/>
          </a:xfrm>
          <a:prstGeom prst="rect">
            <a:avLst/>
          </a:prstGeom>
        </p:spPr>
      </p:pic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1646C0BC-BCFA-FDBF-DF11-30F0A64C4356}"/>
              </a:ext>
            </a:extLst>
          </p:cNvPr>
          <p:cNvSpPr txBox="1"/>
          <p:nvPr/>
        </p:nvSpPr>
        <p:spPr>
          <a:xfrm>
            <a:off x="115900" y="985000"/>
            <a:ext cx="68061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Faults for overvoltage definition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9;p19">
            <a:extLst>
              <a:ext uri="{FF2B5EF4-FFF2-40B4-BE49-F238E27FC236}">
                <a16:creationId xmlns:a16="http://schemas.microsoft.com/office/drawing/2014/main" id="{975C8F57-9958-B57A-96DF-B518369F9700}"/>
              </a:ext>
            </a:extLst>
          </p:cNvPr>
          <p:cNvSpPr txBox="1"/>
          <p:nvPr/>
        </p:nvSpPr>
        <p:spPr>
          <a:xfrm>
            <a:off x="115900" y="1522300"/>
            <a:ext cx="6128889" cy="245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vervoltages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within the converter 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defined by converter internal faults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Converter internal faults are given by converter design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Fault clearance depends on:</a:t>
            </a:r>
          </a:p>
          <a:p>
            <a:pPr marL="611188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protection (DC fault detection)</a:t>
            </a:r>
          </a:p>
          <a:p>
            <a:pPr marL="611188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 breaker operation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C5788-81F0-C5E1-3C06-8ACC4B8C9FF3}"/>
              </a:ext>
            </a:extLst>
          </p:cNvPr>
          <p:cNvSpPr txBox="1"/>
          <p:nvPr/>
        </p:nvSpPr>
        <p:spPr>
          <a:xfrm>
            <a:off x="6200622" y="6171856"/>
            <a:ext cx="5375690" cy="24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CIGRE_832_Guide for Electromagnetic Transient Studies Involving VSC Converter</a:t>
            </a:r>
            <a:endParaRPr lang="en-DE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4706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429</Words>
  <Application>Microsoft Office PowerPoint</Application>
  <PresentationFormat>Widescreen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Lato</vt:lpstr>
      <vt:lpstr>Wingdings</vt:lpstr>
      <vt:lpstr>Office Theme</vt:lpstr>
      <vt:lpstr>Module 07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Martinec, Timothy J</dc:creator>
  <cp:lastModifiedBy>Starschich, Eugen</cp:lastModifiedBy>
  <cp:revision>1</cp:revision>
  <dcterms:created xsi:type="dcterms:W3CDTF">2023-06-22T15:25:22Z</dcterms:created>
  <dcterms:modified xsi:type="dcterms:W3CDTF">2025-04-11T13:42:12Z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C589C268-8DEE-4D59-8D5A-C35DC686A5A4</vt:lpwstr>
  </property>
  <property fmtid="{D5CDD505-2E9C-101B-9397-08002B2CF9AE}" pid="3" name="ArticulatePath">
    <vt:lpwstr>MGMT-330-01</vt:lpwstr>
  </property>
  <property fmtid="{D5CDD505-2E9C-101B-9397-08002B2CF9AE}" pid="4" name="MSIP_Label_36791f77-3d39-4d72-9277-ac879ec799ed_Enabled">
    <vt:lpwstr>true</vt:lpwstr>
  </property>
  <property fmtid="{D5CDD505-2E9C-101B-9397-08002B2CF9AE}" pid="5" name="MSIP_Label_36791f77-3d39-4d72-9277-ac879ec799ed_SetDate">
    <vt:lpwstr>2025-03-27T22:55:25Z</vt:lpwstr>
  </property>
  <property fmtid="{D5CDD505-2E9C-101B-9397-08002B2CF9AE}" pid="6" name="MSIP_Label_36791f77-3d39-4d72-9277-ac879ec799ed_Method">
    <vt:lpwstr>Standard</vt:lpwstr>
  </property>
  <property fmtid="{D5CDD505-2E9C-101B-9397-08002B2CF9AE}" pid="7" name="MSIP_Label_36791f77-3d39-4d72-9277-ac879ec799ed_Name">
    <vt:lpwstr>restricted-default</vt:lpwstr>
  </property>
  <property fmtid="{D5CDD505-2E9C-101B-9397-08002B2CF9AE}" pid="8" name="MSIP_Label_36791f77-3d39-4d72-9277-ac879ec799ed_SiteId">
    <vt:lpwstr>254ba93e-1f6f-48f3-90e6-e2766664b477</vt:lpwstr>
  </property>
  <property fmtid="{D5CDD505-2E9C-101B-9397-08002B2CF9AE}" pid="9" name="MSIP_Label_36791f77-3d39-4d72-9277-ac879ec799ed_ActionId">
    <vt:lpwstr>b95c3f1c-1a69-4d46-8df3-4f1ad4cb0777</vt:lpwstr>
  </property>
  <property fmtid="{D5CDD505-2E9C-101B-9397-08002B2CF9AE}" pid="10" name="MSIP_Label_36791f77-3d39-4d72-9277-ac879ec799ed_ContentBits">
    <vt:lpwstr>0</vt:lpwstr>
  </property>
  <property fmtid="{D5CDD505-2E9C-101B-9397-08002B2CF9AE}" pid="11" name="MSIP_Label_36791f77-3d39-4d72-9277-ac879ec799ed_Tag">
    <vt:lpwstr>10, 3, 0, 1</vt:lpwstr>
  </property>
</Properties>
</file>