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86" r:id="rId3"/>
    <p:sldId id="288" r:id="rId4"/>
    <p:sldId id="289" r:id="rId5"/>
    <p:sldId id="290" r:id="rId6"/>
    <p:sldId id="291" r:id="rId7"/>
    <p:sldId id="300" r:id="rId8"/>
    <p:sldId id="299" r:id="rId9"/>
    <p:sldId id="257" r:id="rId10"/>
    <p:sldId id="263" r:id="rId11"/>
    <p:sldId id="264" r:id="rId12"/>
    <p:sldId id="265" r:id="rId13"/>
    <p:sldId id="292" r:id="rId14"/>
    <p:sldId id="293" r:id="rId15"/>
    <p:sldId id="294" r:id="rId16"/>
    <p:sldId id="295" r:id="rId17"/>
    <p:sldId id="296" r:id="rId18"/>
    <p:sldId id="297" r:id="rId19"/>
    <p:sldId id="298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XTHQ+9EVec4HMWR7YFMipUpY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93F6A5-212E-492E-81D9-64D0FF3FFF2B}" v="6" dt="2025-09-26T03:40:46.3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4" autoAdjust="0"/>
    <p:restoredTop sz="94631" autoAdjust="0"/>
  </p:normalViewPr>
  <p:slideViewPr>
    <p:cSldViewPr snapToGrid="0">
      <p:cViewPr varScale="1">
        <p:scale>
          <a:sx n="99" d="100"/>
          <a:sy n="99" d="100"/>
        </p:scale>
        <p:origin x="678" y="5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arschich, Eugen" userId="26490f84-3a52-4393-8e46-f0cdfb6c1e50" providerId="ADAL" clId="{B393F6A5-212E-492E-81D9-64D0FF3FFF2B}"/>
    <pc:docChg chg="custSel addSld modSld">
      <pc:chgData name="Starschich, Eugen" userId="26490f84-3a52-4393-8e46-f0cdfb6c1e50" providerId="ADAL" clId="{B393F6A5-212E-492E-81D9-64D0FF3FFF2B}" dt="2025-09-26T03:40:49.947" v="618" actId="1076"/>
      <pc:docMkLst>
        <pc:docMk/>
      </pc:docMkLst>
      <pc:sldChg chg="addSp modSp mod">
        <pc:chgData name="Starschich, Eugen" userId="26490f84-3a52-4393-8e46-f0cdfb6c1e50" providerId="ADAL" clId="{B393F6A5-212E-492E-81D9-64D0FF3FFF2B}" dt="2025-09-26T03:40:49.947" v="618" actId="1076"/>
        <pc:sldMkLst>
          <pc:docMk/>
          <pc:sldMk cId="220277811" sldId="296"/>
        </pc:sldMkLst>
        <pc:graphicFrameChg chg="add mod">
          <ac:chgData name="Starschich, Eugen" userId="26490f84-3a52-4393-8e46-f0cdfb6c1e50" providerId="ADAL" clId="{B393F6A5-212E-492E-81D9-64D0FF3FFF2B}" dt="2025-09-26T03:40:49.947" v="618" actId="1076"/>
          <ac:graphicFrameMkLst>
            <pc:docMk/>
            <pc:sldMk cId="220277811" sldId="296"/>
            <ac:graphicFrameMk id="3" creationId="{E1615733-404E-B064-DBF0-D76906E40216}"/>
          </ac:graphicFrameMkLst>
        </pc:graphicFrameChg>
      </pc:sldChg>
      <pc:sldChg chg="addSp delSp modSp new mod">
        <pc:chgData name="Starschich, Eugen" userId="26490f84-3a52-4393-8e46-f0cdfb6c1e50" providerId="ADAL" clId="{B393F6A5-212E-492E-81D9-64D0FF3FFF2B}" dt="2025-09-25T01:52:57.261" v="84" actId="1076"/>
        <pc:sldMkLst>
          <pc:docMk/>
          <pc:sldMk cId="3499261912" sldId="299"/>
        </pc:sldMkLst>
        <pc:spChg chg="add mod">
          <ac:chgData name="Starschich, Eugen" userId="26490f84-3a52-4393-8e46-f0cdfb6c1e50" providerId="ADAL" clId="{B393F6A5-212E-492E-81D9-64D0FF3FFF2B}" dt="2025-09-25T01:52:33.966" v="68" actId="1038"/>
          <ac:spMkLst>
            <pc:docMk/>
            <pc:sldMk cId="3499261912" sldId="299"/>
            <ac:spMk id="3" creationId="{0F371E3C-D125-6C33-A16E-B5FD0E7AF711}"/>
          </ac:spMkLst>
        </pc:spChg>
        <pc:spChg chg="add mod">
          <ac:chgData name="Starschich, Eugen" userId="26490f84-3a52-4393-8e46-f0cdfb6c1e50" providerId="ADAL" clId="{B393F6A5-212E-492E-81D9-64D0FF3FFF2B}" dt="2025-09-25T01:52:40.497" v="82" actId="1037"/>
          <ac:spMkLst>
            <pc:docMk/>
            <pc:sldMk cId="3499261912" sldId="299"/>
            <ac:spMk id="4" creationId="{0EC37FD4-505E-D157-5D82-4DD00DE1E8A3}"/>
          </ac:spMkLst>
        </pc:spChg>
        <pc:spChg chg="add mod">
          <ac:chgData name="Starschich, Eugen" userId="26490f84-3a52-4393-8e46-f0cdfb6c1e50" providerId="ADAL" clId="{B393F6A5-212E-492E-81D9-64D0FF3FFF2B}" dt="2025-09-25T01:52:49.875" v="83" actId="1076"/>
          <ac:spMkLst>
            <pc:docMk/>
            <pc:sldMk cId="3499261912" sldId="299"/>
            <ac:spMk id="5" creationId="{2F0EA215-CA9B-4317-A010-6727189152D3}"/>
          </ac:spMkLst>
        </pc:spChg>
        <pc:spChg chg="add mod">
          <ac:chgData name="Starschich, Eugen" userId="26490f84-3a52-4393-8e46-f0cdfb6c1e50" providerId="ADAL" clId="{B393F6A5-212E-492E-81D9-64D0FF3FFF2B}" dt="2025-09-25T01:52:57.261" v="84" actId="1076"/>
          <ac:spMkLst>
            <pc:docMk/>
            <pc:sldMk cId="3499261912" sldId="299"/>
            <ac:spMk id="6" creationId="{8C07F2D8-EB78-80F7-59D8-EF47BC7CADCF}"/>
          </ac:spMkLst>
        </pc:spChg>
        <pc:spChg chg="add mod">
          <ac:chgData name="Starschich, Eugen" userId="26490f84-3a52-4393-8e46-f0cdfb6c1e50" providerId="ADAL" clId="{B393F6A5-212E-492E-81D9-64D0FF3FFF2B}" dt="2025-09-25T01:52:40.497" v="82" actId="1037"/>
          <ac:spMkLst>
            <pc:docMk/>
            <pc:sldMk cId="3499261912" sldId="299"/>
            <ac:spMk id="8" creationId="{D41A68C8-4C5C-CF3E-89D4-0BE84C88E16F}"/>
          </ac:spMkLst>
        </pc:spChg>
        <pc:spChg chg="add mod">
          <ac:chgData name="Starschich, Eugen" userId="26490f84-3a52-4393-8e46-f0cdfb6c1e50" providerId="ADAL" clId="{B393F6A5-212E-492E-81D9-64D0FF3FFF2B}" dt="2025-09-25T01:47:39.247" v="50" actId="20577"/>
          <ac:spMkLst>
            <pc:docMk/>
            <pc:sldMk cId="3499261912" sldId="299"/>
            <ac:spMk id="11" creationId="{DFBA8D27-0BCE-F3D5-A05C-8921A0120D94}"/>
          </ac:spMkLst>
        </pc:spChg>
        <pc:picChg chg="add del mod">
          <ac:chgData name="Starschich, Eugen" userId="26490f84-3a52-4393-8e46-f0cdfb6c1e50" providerId="ADAL" clId="{B393F6A5-212E-492E-81D9-64D0FF3FFF2B}" dt="2025-09-25T01:51:54.290" v="51" actId="478"/>
          <ac:picMkLst>
            <pc:docMk/>
            <pc:sldMk cId="3499261912" sldId="299"/>
            <ac:picMk id="2" creationId="{03ED6098-BB5A-7AEE-B82C-BB53B2E45910}"/>
          </ac:picMkLst>
        </pc:picChg>
        <pc:picChg chg="add del mod">
          <ac:chgData name="Starschich, Eugen" userId="26490f84-3a52-4393-8e46-f0cdfb6c1e50" providerId="ADAL" clId="{B393F6A5-212E-492E-81D9-64D0FF3FFF2B}" dt="2025-09-25T01:46:47.792" v="4" actId="478"/>
          <ac:picMkLst>
            <pc:docMk/>
            <pc:sldMk cId="3499261912" sldId="299"/>
            <ac:picMk id="7" creationId="{01C15F00-52B7-F8D2-1820-53F3F3768F18}"/>
          </ac:picMkLst>
        </pc:picChg>
        <pc:picChg chg="add mod">
          <ac:chgData name="Starschich, Eugen" userId="26490f84-3a52-4393-8e46-f0cdfb6c1e50" providerId="ADAL" clId="{B393F6A5-212E-492E-81D9-64D0FF3FFF2B}" dt="2025-09-25T01:52:40.497" v="82" actId="1037"/>
          <ac:picMkLst>
            <pc:docMk/>
            <pc:sldMk cId="3499261912" sldId="299"/>
            <ac:picMk id="10" creationId="{F64C002C-7013-4232-E8D9-E2030346A693}"/>
          </ac:picMkLst>
        </pc:picChg>
        <pc:picChg chg="add mod">
          <ac:chgData name="Starschich, Eugen" userId="26490f84-3a52-4393-8e46-f0cdfb6c1e50" providerId="ADAL" clId="{B393F6A5-212E-492E-81D9-64D0FF3FFF2B}" dt="2025-09-25T01:52:33.966" v="68" actId="1038"/>
          <ac:picMkLst>
            <pc:docMk/>
            <pc:sldMk cId="3499261912" sldId="299"/>
            <ac:picMk id="13" creationId="{FF0676EF-A7D2-3FF5-32DA-8D4B2607D0A0}"/>
          </ac:picMkLst>
        </pc:picChg>
      </pc:sldChg>
      <pc:sldChg chg="addSp delSp modSp add mod">
        <pc:chgData name="Starschich, Eugen" userId="26490f84-3a52-4393-8e46-f0cdfb6c1e50" providerId="ADAL" clId="{B393F6A5-212E-492E-81D9-64D0FF3FFF2B}" dt="2025-09-25T02:17:04.480" v="616" actId="1076"/>
        <pc:sldMkLst>
          <pc:docMk/>
          <pc:sldMk cId="684320579" sldId="300"/>
        </pc:sldMkLst>
        <pc:spChg chg="mod">
          <ac:chgData name="Starschich, Eugen" userId="26490f84-3a52-4393-8e46-f0cdfb6c1e50" providerId="ADAL" clId="{B393F6A5-212E-492E-81D9-64D0FF3FFF2B}" dt="2025-09-25T02:15:32.562" v="613" actId="20577"/>
          <ac:spMkLst>
            <pc:docMk/>
            <pc:sldMk cId="684320579" sldId="300"/>
            <ac:spMk id="4" creationId="{B642B073-C8AE-BF05-B2B8-1A698AEA89DE}"/>
          </ac:spMkLst>
        </pc:spChg>
        <pc:graphicFrameChg chg="add mod">
          <ac:chgData name="Starschich, Eugen" userId="26490f84-3a52-4393-8e46-f0cdfb6c1e50" providerId="ADAL" clId="{B393F6A5-212E-492E-81D9-64D0FF3FFF2B}" dt="2025-09-25T02:17:04.480" v="616" actId="1076"/>
          <ac:graphicFrameMkLst>
            <pc:docMk/>
            <pc:sldMk cId="684320579" sldId="300"/>
            <ac:graphicFrameMk id="7" creationId="{10F14C7A-20E0-B2D7-77B8-6A2A1E844EB4}"/>
          </ac:graphicFrameMkLst>
        </pc:graphicFrameChg>
        <pc:picChg chg="del">
          <ac:chgData name="Starschich, Eugen" userId="26490f84-3a52-4393-8e46-f0cdfb6c1e50" providerId="ADAL" clId="{B393F6A5-212E-492E-81D9-64D0FF3FFF2B}" dt="2025-09-25T02:08:23.963" v="86" actId="478"/>
          <ac:picMkLst>
            <pc:docMk/>
            <pc:sldMk cId="684320579" sldId="300"/>
            <ac:picMk id="3" creationId="{DEED4082-6975-1C16-8596-DDB30C154C46}"/>
          </ac:picMkLst>
        </pc:picChg>
        <pc:picChg chg="add mod">
          <ac:chgData name="Starschich, Eugen" userId="26490f84-3a52-4393-8e46-f0cdfb6c1e50" providerId="ADAL" clId="{B393F6A5-212E-492E-81D9-64D0FF3FFF2B}" dt="2025-09-25T02:08:44.459" v="91" actId="1076"/>
          <ac:picMkLst>
            <pc:docMk/>
            <pc:sldMk cId="684320579" sldId="300"/>
            <ac:picMk id="6" creationId="{6B75C681-42B1-E566-9D36-0876A768CD1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E50DD711-0CC5-8023-87FC-3B52817CD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68E5E88F-4585-A78F-12D3-0376F450EC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03E03AF8-2981-BE8C-393F-AB9C502BFD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14581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2C76CEB4-2A65-388A-34D4-DFEC936E8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6A69B964-6C26-DF1B-D03B-91AF859BC3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54E99719-A175-80F8-7688-53742CE099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70016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495FAC93-3275-E286-F37E-9EAC043AA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37ED0A57-A77F-A5A0-7605-DCD9E2ED6B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9F36C68B-D4F3-148E-6FA0-9E6B24059A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19237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37BEA195-C0DB-7F0E-327F-A169803AE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7F145E4C-CC68-11CF-04E4-5E60E44833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5CEFFD6E-4736-A52E-BB94-0237ACCC3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05523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CD412323-1539-A6C8-63F4-B73C57C9F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E992F697-28F8-5B4F-F54A-53218AD1B6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65F1A714-7D75-310C-E537-F9682CDF30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34704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069E0CEE-8F75-D036-1697-2FCFF0012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C01E2657-63BA-0333-819F-9435D84DED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9F0F8037-749D-0A49-FD07-CD2BEB5824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423313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30362647-28E2-35BF-C4FB-DD285D039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85D6358A-C212-AAF1-9675-F89ABA2FB2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5D836C92-8C9D-C6BC-B96D-0DAF6C20EB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849310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954A47F3-8BED-592D-7A5D-2EABF8373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C2653C10-5B51-3571-EA9D-AB1CA82DD5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DC12E193-554D-D9CE-2C6C-D0B69E0852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740913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F983BBFB-F968-5605-CBF5-1FCAAE88C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F399A0E4-8365-755A-176A-27351BCA25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5950D22F-036B-9638-6564-464DE12F57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084637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20A0E3D8-E3A7-750F-FAF4-009FFBBBD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055EDAC4-814F-DA68-D6AA-1FF9625D0D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D11066BE-3150-4E8D-DEAE-7F86E81DC1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14301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04344060-A37F-109B-E2F5-1ECD792B2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62156FF7-34D6-5246-552D-9DC99A4A78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CF6034D9-4531-CB0F-37F9-78C612FDB9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851267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0777FA01-1C29-6E3F-C591-DEA4651B2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1E4BC035-DCEF-F960-5ED9-EDE3BE6633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13644678-56BC-611B-D9FE-06BF62F83D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437498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B56CC5DD-01A3-944D-2BAB-3E95F8EAD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6525764F-77ED-9765-7C50-67431C4A02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9317B7A7-3728-A576-17B8-D1BCBE4900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892058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0AAFC2FB-286C-0902-136C-B829FD828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ECECD309-A67A-1B53-5F94-86DBF63B3E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C705BD3A-0009-D0AF-2E8E-9669EC14AA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145369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E484394D-F0FB-04E5-F663-C2337E941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43FD31CD-C7B7-1A51-3160-D8981176BE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9A24F6A0-2518-4DA5-4ED3-EA3E5FAC5B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60952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85C84CA7-7AD1-D294-AC99-2341D95B0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1D6E59A4-615E-C0DE-B38A-A4BC8D145D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E581C58C-338E-1D98-389A-0FE928E862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89771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9" name="Google Shape;1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447917" cy="7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8"/>
          <p:cNvSpPr txBox="1"/>
          <p:nvPr/>
        </p:nvSpPr>
        <p:spPr>
          <a:xfrm>
            <a:off x="3259138" y="247650"/>
            <a:ext cx="1739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Course: Example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8"/>
          <p:cNvSpPr txBox="1"/>
          <p:nvPr/>
        </p:nvSpPr>
        <p:spPr>
          <a:xfrm>
            <a:off x="10861157" y="247650"/>
            <a:ext cx="9620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NJIT Online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" name="Google Shape;22;p8"/>
          <p:cNvGrpSpPr/>
          <p:nvPr/>
        </p:nvGrpSpPr>
        <p:grpSpPr>
          <a:xfrm>
            <a:off x="417513" y="247650"/>
            <a:ext cx="817562" cy="365125"/>
            <a:chOff x="680603" y="376946"/>
            <a:chExt cx="1172845" cy="524163"/>
          </a:xfrm>
        </p:grpSpPr>
        <p:pic>
          <p:nvPicPr>
            <p:cNvPr id="23" name="Google Shape;23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86939" y="376946"/>
              <a:ext cx="241270" cy="2372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24;p8"/>
            <p:cNvSpPr/>
            <p:nvPr/>
          </p:nvSpPr>
          <p:spPr>
            <a:xfrm>
              <a:off x="1049898" y="382094"/>
              <a:ext cx="103505" cy="306705"/>
            </a:xfrm>
            <a:custGeom>
              <a:avLst/>
              <a:gdLst/>
              <a:ahLst/>
              <a:cxnLst/>
              <a:rect l="l" t="t" r="r" b="b"/>
              <a:pathLst>
                <a:path w="103505" h="306705" extrusionOk="0">
                  <a:moveTo>
                    <a:pt x="100845" y="0"/>
                  </a:moveTo>
                  <a:lnTo>
                    <a:pt x="87388" y="145"/>
                  </a:lnTo>
                  <a:lnTo>
                    <a:pt x="62814" y="931"/>
                  </a:lnTo>
                  <a:lnTo>
                    <a:pt x="37059" y="145"/>
                  </a:lnTo>
                  <a:lnTo>
                    <a:pt x="21077" y="0"/>
                  </a:lnTo>
                  <a:lnTo>
                    <a:pt x="18931" y="607"/>
                  </a:lnTo>
                  <a:lnTo>
                    <a:pt x="18931" y="4816"/>
                  </a:lnTo>
                  <a:lnTo>
                    <a:pt x="20774" y="5455"/>
                  </a:lnTo>
                  <a:lnTo>
                    <a:pt x="28292" y="5455"/>
                  </a:lnTo>
                  <a:lnTo>
                    <a:pt x="30595" y="5727"/>
                  </a:lnTo>
                  <a:lnTo>
                    <a:pt x="43014" y="8439"/>
                  </a:lnTo>
                  <a:lnTo>
                    <a:pt x="42585" y="13298"/>
                  </a:lnTo>
                  <a:lnTo>
                    <a:pt x="43537" y="31180"/>
                  </a:lnTo>
                  <a:lnTo>
                    <a:pt x="43714" y="41981"/>
                  </a:lnTo>
                  <a:lnTo>
                    <a:pt x="43789" y="87630"/>
                  </a:lnTo>
                  <a:lnTo>
                    <a:pt x="43789" y="174371"/>
                  </a:lnTo>
                  <a:lnTo>
                    <a:pt x="43477" y="213698"/>
                  </a:lnTo>
                  <a:lnTo>
                    <a:pt x="34353" y="268000"/>
                  </a:lnTo>
                  <a:lnTo>
                    <a:pt x="1507" y="301299"/>
                  </a:lnTo>
                  <a:lnTo>
                    <a:pt x="0" y="302493"/>
                  </a:lnTo>
                  <a:lnTo>
                    <a:pt x="0" y="305498"/>
                  </a:lnTo>
                  <a:lnTo>
                    <a:pt x="1193" y="306440"/>
                  </a:lnTo>
                  <a:lnTo>
                    <a:pt x="3905" y="306440"/>
                  </a:lnTo>
                  <a:lnTo>
                    <a:pt x="6334" y="305823"/>
                  </a:lnTo>
                  <a:lnTo>
                    <a:pt x="8460" y="304608"/>
                  </a:lnTo>
                  <a:lnTo>
                    <a:pt x="19643" y="299174"/>
                  </a:lnTo>
                  <a:lnTo>
                    <a:pt x="57716" y="268423"/>
                  </a:lnTo>
                  <a:lnTo>
                    <a:pt x="78582" y="226562"/>
                  </a:lnTo>
                  <a:lnTo>
                    <a:pt x="82165" y="186130"/>
                  </a:lnTo>
                  <a:lnTo>
                    <a:pt x="81243" y="143545"/>
                  </a:lnTo>
                  <a:lnTo>
                    <a:pt x="81252" y="59589"/>
                  </a:lnTo>
                  <a:lnTo>
                    <a:pt x="81495" y="31180"/>
                  </a:lnTo>
                  <a:lnTo>
                    <a:pt x="82447" y="12994"/>
                  </a:lnTo>
                  <a:lnTo>
                    <a:pt x="83452" y="7853"/>
                  </a:lnTo>
                  <a:lnTo>
                    <a:pt x="95222" y="5727"/>
                  </a:lnTo>
                  <a:lnTo>
                    <a:pt x="92981" y="5779"/>
                  </a:lnTo>
                  <a:lnTo>
                    <a:pt x="101148" y="5141"/>
                  </a:lnTo>
                  <a:lnTo>
                    <a:pt x="102949" y="4816"/>
                  </a:lnTo>
                  <a:lnTo>
                    <a:pt x="102949" y="607"/>
                  </a:lnTo>
                  <a:lnTo>
                    <a:pt x="1008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5" name="Google Shape;25;p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00789" y="382094"/>
              <a:ext cx="87630" cy="2284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" name="Google Shape;26;p8"/>
            <p:cNvSpPr/>
            <p:nvPr/>
          </p:nvSpPr>
          <p:spPr>
            <a:xfrm>
              <a:off x="680603" y="377869"/>
              <a:ext cx="1172845" cy="523240"/>
            </a:xfrm>
            <a:custGeom>
              <a:avLst/>
              <a:gdLst/>
              <a:ahLst/>
              <a:cxnLst/>
              <a:rect l="l" t="t" r="r" b="b"/>
              <a:pathLst>
                <a:path w="1172845" h="523240" extrusionOk="0">
                  <a:moveTo>
                    <a:pt x="857000" y="0"/>
                  </a:moveTo>
                  <a:lnTo>
                    <a:pt x="852780" y="0"/>
                  </a:lnTo>
                  <a:lnTo>
                    <a:pt x="851879" y="1811"/>
                  </a:lnTo>
                  <a:lnTo>
                    <a:pt x="847574" y="22189"/>
                  </a:lnTo>
                  <a:lnTo>
                    <a:pt x="845531" y="33342"/>
                  </a:lnTo>
                  <a:lnTo>
                    <a:pt x="844623" y="40490"/>
                  </a:lnTo>
                  <a:lnTo>
                    <a:pt x="844623" y="43789"/>
                  </a:lnTo>
                  <a:lnTo>
                    <a:pt x="845241" y="45328"/>
                  </a:lnTo>
                  <a:lnTo>
                    <a:pt x="849146" y="45328"/>
                  </a:lnTo>
                  <a:lnTo>
                    <a:pt x="850047" y="44092"/>
                  </a:lnTo>
                  <a:lnTo>
                    <a:pt x="851262" y="39244"/>
                  </a:lnTo>
                  <a:lnTo>
                    <a:pt x="852780" y="35611"/>
                  </a:lnTo>
                  <a:lnTo>
                    <a:pt x="930076" y="21140"/>
                  </a:lnTo>
                  <a:lnTo>
                    <a:pt x="930052" y="165597"/>
                  </a:lnTo>
                  <a:lnTo>
                    <a:pt x="928579" y="212956"/>
                  </a:lnTo>
                  <a:lnTo>
                    <a:pt x="915574" y="230872"/>
                  </a:lnTo>
                  <a:lnTo>
                    <a:pt x="906590" y="230872"/>
                  </a:lnTo>
                  <a:lnTo>
                    <a:pt x="832257" y="234620"/>
                  </a:lnTo>
                  <a:lnTo>
                    <a:pt x="759564" y="241935"/>
                  </a:lnTo>
                  <a:lnTo>
                    <a:pt x="688744" y="252412"/>
                  </a:lnTo>
                  <a:lnTo>
                    <a:pt x="620035" y="265644"/>
                  </a:lnTo>
                  <a:lnTo>
                    <a:pt x="553671" y="281227"/>
                  </a:lnTo>
                  <a:lnTo>
                    <a:pt x="489889" y="298756"/>
                  </a:lnTo>
                  <a:lnTo>
                    <a:pt x="428924" y="317824"/>
                  </a:lnTo>
                  <a:lnTo>
                    <a:pt x="371012" y="338027"/>
                  </a:lnTo>
                  <a:lnTo>
                    <a:pt x="316389" y="358959"/>
                  </a:lnTo>
                  <a:lnTo>
                    <a:pt x="265290" y="380214"/>
                  </a:lnTo>
                  <a:lnTo>
                    <a:pt x="217951" y="401388"/>
                  </a:lnTo>
                  <a:lnTo>
                    <a:pt x="174608" y="422076"/>
                  </a:lnTo>
                  <a:lnTo>
                    <a:pt x="135496" y="441870"/>
                  </a:lnTo>
                  <a:lnTo>
                    <a:pt x="100852" y="460368"/>
                  </a:lnTo>
                  <a:lnTo>
                    <a:pt x="45908" y="491847"/>
                  </a:lnTo>
                  <a:lnTo>
                    <a:pt x="11662" y="513271"/>
                  </a:lnTo>
                  <a:lnTo>
                    <a:pt x="0" y="521397"/>
                  </a:lnTo>
                  <a:lnTo>
                    <a:pt x="879" y="522675"/>
                  </a:lnTo>
                  <a:lnTo>
                    <a:pt x="2617" y="523010"/>
                  </a:lnTo>
                  <a:lnTo>
                    <a:pt x="16076" y="514646"/>
                  </a:lnTo>
                  <a:lnTo>
                    <a:pt x="30286" y="506314"/>
                  </a:lnTo>
                  <a:lnTo>
                    <a:pt x="74424" y="482231"/>
                  </a:lnTo>
                  <a:lnTo>
                    <a:pt x="138775" y="450581"/>
                  </a:lnTo>
                  <a:lnTo>
                    <a:pt x="178248" y="432789"/>
                  </a:lnTo>
                  <a:lnTo>
                    <a:pt x="222438" y="414151"/>
                  </a:lnTo>
                  <a:lnTo>
                    <a:pt x="271232" y="395015"/>
                  </a:lnTo>
                  <a:lnTo>
                    <a:pt x="324518" y="375728"/>
                  </a:lnTo>
                  <a:lnTo>
                    <a:pt x="382184" y="356641"/>
                  </a:lnTo>
                  <a:lnTo>
                    <a:pt x="444117" y="338101"/>
                  </a:lnTo>
                  <a:lnTo>
                    <a:pt x="510205" y="320457"/>
                  </a:lnTo>
                  <a:lnTo>
                    <a:pt x="580337" y="304057"/>
                  </a:lnTo>
                  <a:lnTo>
                    <a:pt x="654399" y="289249"/>
                  </a:lnTo>
                  <a:lnTo>
                    <a:pt x="732281" y="276382"/>
                  </a:lnTo>
                  <a:lnTo>
                    <a:pt x="813868" y="265805"/>
                  </a:lnTo>
                  <a:lnTo>
                    <a:pt x="899051" y="257866"/>
                  </a:lnTo>
                  <a:lnTo>
                    <a:pt x="991483" y="251346"/>
                  </a:lnTo>
                  <a:lnTo>
                    <a:pt x="1066488" y="246686"/>
                  </a:lnTo>
                  <a:lnTo>
                    <a:pt x="1122355" y="243655"/>
                  </a:lnTo>
                  <a:lnTo>
                    <a:pt x="1171241" y="241594"/>
                  </a:lnTo>
                  <a:lnTo>
                    <a:pt x="1172498" y="240631"/>
                  </a:lnTo>
                  <a:lnTo>
                    <a:pt x="1134845" y="233772"/>
                  </a:lnTo>
                  <a:lnTo>
                    <a:pt x="1078170" y="230715"/>
                  </a:lnTo>
                  <a:lnTo>
                    <a:pt x="988315" y="229657"/>
                  </a:lnTo>
                  <a:lnTo>
                    <a:pt x="972075" y="227678"/>
                  </a:lnTo>
                  <a:lnTo>
                    <a:pt x="968043" y="184346"/>
                  </a:lnTo>
                  <a:lnTo>
                    <a:pt x="967855" y="145042"/>
                  </a:lnTo>
                  <a:lnTo>
                    <a:pt x="967855" y="21140"/>
                  </a:lnTo>
                  <a:lnTo>
                    <a:pt x="1022732" y="23845"/>
                  </a:lnTo>
                  <a:lnTo>
                    <a:pt x="1042135" y="46825"/>
                  </a:lnTo>
                  <a:lnTo>
                    <a:pt x="1042743" y="48354"/>
                  </a:lnTo>
                  <a:lnTo>
                    <a:pt x="1046983" y="48354"/>
                  </a:lnTo>
                  <a:lnTo>
                    <a:pt x="1047559" y="46511"/>
                  </a:lnTo>
                  <a:lnTo>
                    <a:pt x="1047884" y="43496"/>
                  </a:lnTo>
                  <a:lnTo>
                    <a:pt x="1048784" y="3884"/>
                  </a:lnTo>
                  <a:lnTo>
                    <a:pt x="1048481" y="2083"/>
                  </a:lnTo>
                  <a:lnTo>
                    <a:pt x="1045172" y="2083"/>
                  </a:lnTo>
                  <a:lnTo>
                    <a:pt x="1038209" y="3612"/>
                  </a:lnTo>
                  <a:lnTo>
                    <a:pt x="1027047" y="5151"/>
                  </a:lnTo>
                  <a:lnTo>
                    <a:pt x="890079" y="5042"/>
                  </a:lnTo>
                  <a:lnTo>
                    <a:pt x="874576" y="4246"/>
                  </a:lnTo>
                  <a:lnTo>
                    <a:pt x="860047" y="3026"/>
                  </a:lnTo>
                  <a:lnTo>
                    <a:pt x="857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8" name="Google Shape;8;p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" y="0"/>
            <a:ext cx="12447917" cy="7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7"/>
          <p:cNvSpPr txBox="1"/>
          <p:nvPr/>
        </p:nvSpPr>
        <p:spPr>
          <a:xfrm>
            <a:off x="3259138" y="247650"/>
            <a:ext cx="1739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Course: </a:t>
            </a:r>
            <a:r>
              <a:rPr lang="en-DE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ECE 652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7"/>
          <p:cNvSpPr txBox="1"/>
          <p:nvPr/>
        </p:nvSpPr>
        <p:spPr>
          <a:xfrm>
            <a:off x="10861157" y="247650"/>
            <a:ext cx="9620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NJIT Online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7"/>
          <p:cNvGrpSpPr/>
          <p:nvPr/>
        </p:nvGrpSpPr>
        <p:grpSpPr>
          <a:xfrm>
            <a:off x="417513" y="247650"/>
            <a:ext cx="817562" cy="365125"/>
            <a:chOff x="680603" y="376946"/>
            <a:chExt cx="1172845" cy="524163"/>
          </a:xfrm>
        </p:grpSpPr>
        <p:pic>
          <p:nvPicPr>
            <p:cNvPr id="12" name="Google Shape;12;p7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686939" y="376946"/>
              <a:ext cx="241270" cy="2372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13;p7"/>
            <p:cNvSpPr/>
            <p:nvPr/>
          </p:nvSpPr>
          <p:spPr>
            <a:xfrm>
              <a:off x="1049898" y="382094"/>
              <a:ext cx="103505" cy="306705"/>
            </a:xfrm>
            <a:custGeom>
              <a:avLst/>
              <a:gdLst/>
              <a:ahLst/>
              <a:cxnLst/>
              <a:rect l="l" t="t" r="r" b="b"/>
              <a:pathLst>
                <a:path w="103505" h="306705" extrusionOk="0">
                  <a:moveTo>
                    <a:pt x="100845" y="0"/>
                  </a:moveTo>
                  <a:lnTo>
                    <a:pt x="87388" y="145"/>
                  </a:lnTo>
                  <a:lnTo>
                    <a:pt x="62814" y="931"/>
                  </a:lnTo>
                  <a:lnTo>
                    <a:pt x="37059" y="145"/>
                  </a:lnTo>
                  <a:lnTo>
                    <a:pt x="21077" y="0"/>
                  </a:lnTo>
                  <a:lnTo>
                    <a:pt x="18931" y="607"/>
                  </a:lnTo>
                  <a:lnTo>
                    <a:pt x="18931" y="4816"/>
                  </a:lnTo>
                  <a:lnTo>
                    <a:pt x="20774" y="5455"/>
                  </a:lnTo>
                  <a:lnTo>
                    <a:pt x="28292" y="5455"/>
                  </a:lnTo>
                  <a:lnTo>
                    <a:pt x="30595" y="5727"/>
                  </a:lnTo>
                  <a:lnTo>
                    <a:pt x="43014" y="8439"/>
                  </a:lnTo>
                  <a:lnTo>
                    <a:pt x="42585" y="13298"/>
                  </a:lnTo>
                  <a:lnTo>
                    <a:pt x="43537" y="31180"/>
                  </a:lnTo>
                  <a:lnTo>
                    <a:pt x="43714" y="41981"/>
                  </a:lnTo>
                  <a:lnTo>
                    <a:pt x="43789" y="87630"/>
                  </a:lnTo>
                  <a:lnTo>
                    <a:pt x="43789" y="174371"/>
                  </a:lnTo>
                  <a:lnTo>
                    <a:pt x="43477" y="213698"/>
                  </a:lnTo>
                  <a:lnTo>
                    <a:pt x="34353" y="268000"/>
                  </a:lnTo>
                  <a:lnTo>
                    <a:pt x="1507" y="301299"/>
                  </a:lnTo>
                  <a:lnTo>
                    <a:pt x="0" y="302493"/>
                  </a:lnTo>
                  <a:lnTo>
                    <a:pt x="0" y="305498"/>
                  </a:lnTo>
                  <a:lnTo>
                    <a:pt x="1193" y="306440"/>
                  </a:lnTo>
                  <a:lnTo>
                    <a:pt x="3905" y="306440"/>
                  </a:lnTo>
                  <a:lnTo>
                    <a:pt x="6334" y="305823"/>
                  </a:lnTo>
                  <a:lnTo>
                    <a:pt x="8460" y="304608"/>
                  </a:lnTo>
                  <a:lnTo>
                    <a:pt x="19643" y="299174"/>
                  </a:lnTo>
                  <a:lnTo>
                    <a:pt x="57716" y="268423"/>
                  </a:lnTo>
                  <a:lnTo>
                    <a:pt x="78582" y="226562"/>
                  </a:lnTo>
                  <a:lnTo>
                    <a:pt x="82165" y="186130"/>
                  </a:lnTo>
                  <a:lnTo>
                    <a:pt x="81243" y="143545"/>
                  </a:lnTo>
                  <a:lnTo>
                    <a:pt x="81252" y="59589"/>
                  </a:lnTo>
                  <a:lnTo>
                    <a:pt x="81495" y="31180"/>
                  </a:lnTo>
                  <a:lnTo>
                    <a:pt x="82447" y="12994"/>
                  </a:lnTo>
                  <a:lnTo>
                    <a:pt x="83452" y="7853"/>
                  </a:lnTo>
                  <a:lnTo>
                    <a:pt x="95222" y="5727"/>
                  </a:lnTo>
                  <a:lnTo>
                    <a:pt x="92981" y="5779"/>
                  </a:lnTo>
                  <a:lnTo>
                    <a:pt x="101148" y="5141"/>
                  </a:lnTo>
                  <a:lnTo>
                    <a:pt x="102949" y="4816"/>
                  </a:lnTo>
                  <a:lnTo>
                    <a:pt x="102949" y="607"/>
                  </a:lnTo>
                  <a:lnTo>
                    <a:pt x="1008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" name="Google Shape;14;p7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1300789" y="382094"/>
              <a:ext cx="87630" cy="2284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15;p7"/>
            <p:cNvSpPr/>
            <p:nvPr/>
          </p:nvSpPr>
          <p:spPr>
            <a:xfrm>
              <a:off x="680603" y="377869"/>
              <a:ext cx="1172845" cy="523240"/>
            </a:xfrm>
            <a:custGeom>
              <a:avLst/>
              <a:gdLst/>
              <a:ahLst/>
              <a:cxnLst/>
              <a:rect l="l" t="t" r="r" b="b"/>
              <a:pathLst>
                <a:path w="1172845" h="523240" extrusionOk="0">
                  <a:moveTo>
                    <a:pt x="857000" y="0"/>
                  </a:moveTo>
                  <a:lnTo>
                    <a:pt x="852780" y="0"/>
                  </a:lnTo>
                  <a:lnTo>
                    <a:pt x="851879" y="1811"/>
                  </a:lnTo>
                  <a:lnTo>
                    <a:pt x="847574" y="22189"/>
                  </a:lnTo>
                  <a:lnTo>
                    <a:pt x="845531" y="33342"/>
                  </a:lnTo>
                  <a:lnTo>
                    <a:pt x="844623" y="40490"/>
                  </a:lnTo>
                  <a:lnTo>
                    <a:pt x="844623" y="43789"/>
                  </a:lnTo>
                  <a:lnTo>
                    <a:pt x="845241" y="45328"/>
                  </a:lnTo>
                  <a:lnTo>
                    <a:pt x="849146" y="45328"/>
                  </a:lnTo>
                  <a:lnTo>
                    <a:pt x="850047" y="44092"/>
                  </a:lnTo>
                  <a:lnTo>
                    <a:pt x="851262" y="39244"/>
                  </a:lnTo>
                  <a:lnTo>
                    <a:pt x="852780" y="35611"/>
                  </a:lnTo>
                  <a:lnTo>
                    <a:pt x="930076" y="21140"/>
                  </a:lnTo>
                  <a:lnTo>
                    <a:pt x="930052" y="165597"/>
                  </a:lnTo>
                  <a:lnTo>
                    <a:pt x="928579" y="212956"/>
                  </a:lnTo>
                  <a:lnTo>
                    <a:pt x="915574" y="230872"/>
                  </a:lnTo>
                  <a:lnTo>
                    <a:pt x="906590" y="230872"/>
                  </a:lnTo>
                  <a:lnTo>
                    <a:pt x="832257" y="234620"/>
                  </a:lnTo>
                  <a:lnTo>
                    <a:pt x="759564" y="241935"/>
                  </a:lnTo>
                  <a:lnTo>
                    <a:pt x="688744" y="252412"/>
                  </a:lnTo>
                  <a:lnTo>
                    <a:pt x="620035" y="265644"/>
                  </a:lnTo>
                  <a:lnTo>
                    <a:pt x="553671" y="281227"/>
                  </a:lnTo>
                  <a:lnTo>
                    <a:pt x="489889" y="298756"/>
                  </a:lnTo>
                  <a:lnTo>
                    <a:pt x="428924" y="317824"/>
                  </a:lnTo>
                  <a:lnTo>
                    <a:pt x="371012" y="338027"/>
                  </a:lnTo>
                  <a:lnTo>
                    <a:pt x="316389" y="358959"/>
                  </a:lnTo>
                  <a:lnTo>
                    <a:pt x="265290" y="380214"/>
                  </a:lnTo>
                  <a:lnTo>
                    <a:pt x="217951" y="401388"/>
                  </a:lnTo>
                  <a:lnTo>
                    <a:pt x="174608" y="422076"/>
                  </a:lnTo>
                  <a:lnTo>
                    <a:pt x="135496" y="441870"/>
                  </a:lnTo>
                  <a:lnTo>
                    <a:pt x="100852" y="460368"/>
                  </a:lnTo>
                  <a:lnTo>
                    <a:pt x="45908" y="491847"/>
                  </a:lnTo>
                  <a:lnTo>
                    <a:pt x="11662" y="513271"/>
                  </a:lnTo>
                  <a:lnTo>
                    <a:pt x="0" y="521397"/>
                  </a:lnTo>
                  <a:lnTo>
                    <a:pt x="879" y="522675"/>
                  </a:lnTo>
                  <a:lnTo>
                    <a:pt x="2617" y="523010"/>
                  </a:lnTo>
                  <a:lnTo>
                    <a:pt x="16076" y="514646"/>
                  </a:lnTo>
                  <a:lnTo>
                    <a:pt x="30286" y="506314"/>
                  </a:lnTo>
                  <a:lnTo>
                    <a:pt x="74424" y="482231"/>
                  </a:lnTo>
                  <a:lnTo>
                    <a:pt x="138775" y="450581"/>
                  </a:lnTo>
                  <a:lnTo>
                    <a:pt x="178248" y="432789"/>
                  </a:lnTo>
                  <a:lnTo>
                    <a:pt x="222438" y="414151"/>
                  </a:lnTo>
                  <a:lnTo>
                    <a:pt x="271232" y="395015"/>
                  </a:lnTo>
                  <a:lnTo>
                    <a:pt x="324518" y="375728"/>
                  </a:lnTo>
                  <a:lnTo>
                    <a:pt x="382184" y="356641"/>
                  </a:lnTo>
                  <a:lnTo>
                    <a:pt x="444117" y="338101"/>
                  </a:lnTo>
                  <a:lnTo>
                    <a:pt x="510205" y="320457"/>
                  </a:lnTo>
                  <a:lnTo>
                    <a:pt x="580337" y="304057"/>
                  </a:lnTo>
                  <a:lnTo>
                    <a:pt x="654399" y="289249"/>
                  </a:lnTo>
                  <a:lnTo>
                    <a:pt x="732281" y="276382"/>
                  </a:lnTo>
                  <a:lnTo>
                    <a:pt x="813868" y="265805"/>
                  </a:lnTo>
                  <a:lnTo>
                    <a:pt x="899051" y="257866"/>
                  </a:lnTo>
                  <a:lnTo>
                    <a:pt x="991483" y="251346"/>
                  </a:lnTo>
                  <a:lnTo>
                    <a:pt x="1066488" y="246686"/>
                  </a:lnTo>
                  <a:lnTo>
                    <a:pt x="1122355" y="243655"/>
                  </a:lnTo>
                  <a:lnTo>
                    <a:pt x="1171241" y="241594"/>
                  </a:lnTo>
                  <a:lnTo>
                    <a:pt x="1172498" y="240631"/>
                  </a:lnTo>
                  <a:lnTo>
                    <a:pt x="1134845" y="233772"/>
                  </a:lnTo>
                  <a:lnTo>
                    <a:pt x="1078170" y="230715"/>
                  </a:lnTo>
                  <a:lnTo>
                    <a:pt x="988315" y="229657"/>
                  </a:lnTo>
                  <a:lnTo>
                    <a:pt x="972075" y="227678"/>
                  </a:lnTo>
                  <a:lnTo>
                    <a:pt x="968043" y="184346"/>
                  </a:lnTo>
                  <a:lnTo>
                    <a:pt x="967855" y="145042"/>
                  </a:lnTo>
                  <a:lnTo>
                    <a:pt x="967855" y="21140"/>
                  </a:lnTo>
                  <a:lnTo>
                    <a:pt x="1022732" y="23845"/>
                  </a:lnTo>
                  <a:lnTo>
                    <a:pt x="1042135" y="46825"/>
                  </a:lnTo>
                  <a:lnTo>
                    <a:pt x="1042743" y="48354"/>
                  </a:lnTo>
                  <a:lnTo>
                    <a:pt x="1046983" y="48354"/>
                  </a:lnTo>
                  <a:lnTo>
                    <a:pt x="1047559" y="46511"/>
                  </a:lnTo>
                  <a:lnTo>
                    <a:pt x="1047884" y="43496"/>
                  </a:lnTo>
                  <a:lnTo>
                    <a:pt x="1048784" y="3884"/>
                  </a:lnTo>
                  <a:lnTo>
                    <a:pt x="1048481" y="2083"/>
                  </a:lnTo>
                  <a:lnTo>
                    <a:pt x="1045172" y="2083"/>
                  </a:lnTo>
                  <a:lnTo>
                    <a:pt x="1038209" y="3612"/>
                  </a:lnTo>
                  <a:lnTo>
                    <a:pt x="1027047" y="5151"/>
                  </a:lnTo>
                  <a:lnTo>
                    <a:pt x="890079" y="5042"/>
                  </a:lnTo>
                  <a:lnTo>
                    <a:pt x="874576" y="4246"/>
                  </a:lnTo>
                  <a:lnTo>
                    <a:pt x="860047" y="3026"/>
                  </a:lnTo>
                  <a:lnTo>
                    <a:pt x="857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emf"/><Relationship Id="rId4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>
            <a:spLocks noGrp="1"/>
          </p:cNvSpPr>
          <p:nvPr>
            <p:ph type="ctrTitle" idx="4294967295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DE" dirty="0"/>
              <a:t>Module 04</a:t>
            </a:r>
            <a:endParaRPr dirty="0"/>
          </a:p>
        </p:txBody>
      </p:sp>
      <p:sp>
        <p:nvSpPr>
          <p:cNvPr id="65" name="Google Shape;65;p1"/>
          <p:cNvSpPr txBox="1">
            <a:spLocks noGrp="1"/>
          </p:cNvSpPr>
          <p:nvPr>
            <p:ph type="subTitle" idx="4294967295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HVDC (VSC) Technology</a:t>
            </a:r>
            <a:endParaRPr lang="en-DE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2- and 3-Level Converter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332EE17F-BA92-2632-AAEB-9EF3147A1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E669F1FE-5125-BA91-B30D-1453B4D49641}"/>
              </a:ext>
            </a:extLst>
          </p:cNvPr>
          <p:cNvSpPr txBox="1"/>
          <p:nvPr/>
        </p:nvSpPr>
        <p:spPr>
          <a:xfrm>
            <a:off x="115900" y="984999"/>
            <a:ext cx="6806100" cy="78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DE" sz="3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onverter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Copy">
            <a:extLst>
              <a:ext uri="{FF2B5EF4-FFF2-40B4-BE49-F238E27FC236}">
                <a16:creationId xmlns:a16="http://schemas.microsoft.com/office/drawing/2014/main" id="{2E7AE010-F83F-EFC9-BF22-A1016A3D166C}"/>
              </a:ext>
            </a:extLst>
          </p:cNvPr>
          <p:cNvSpPr txBox="1">
            <a:spLocks/>
          </p:cNvSpPr>
          <p:nvPr/>
        </p:nvSpPr>
        <p:spPr>
          <a:xfrm>
            <a:off x="5333317" y="985000"/>
            <a:ext cx="6639608" cy="553610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sz="2000" dirty="0"/>
              <a:t>The main driver for converter technology development was the railway system, which requires motor drives with adjustable speed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DE" sz="20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sz="2000" dirty="0"/>
              <a:t>The semiconductor development was driven by railway application which had several DC voltage levels in operation:</a:t>
            </a:r>
            <a:br>
              <a:rPr lang="en-DE" sz="2000" dirty="0"/>
            </a:br>
            <a:r>
              <a:rPr lang="en-DE" sz="2000" dirty="0"/>
              <a:t>900V:	Trams</a:t>
            </a:r>
            <a:br>
              <a:rPr lang="en-DE" sz="2000" dirty="0"/>
            </a:br>
            <a:r>
              <a:rPr lang="en-DE" sz="2000" dirty="0"/>
              <a:t>1500 V:	Trains</a:t>
            </a:r>
            <a:br>
              <a:rPr lang="en-DE" sz="2000" dirty="0"/>
            </a:br>
            <a:r>
              <a:rPr lang="en-DE" sz="2000" dirty="0"/>
              <a:t>3000 V:	Trains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DE" sz="20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sz="2000" dirty="0"/>
              <a:t>The IGBT developed were designed for that voltage level:</a:t>
            </a:r>
            <a:br>
              <a:rPr lang="en-DE" sz="2000" dirty="0"/>
            </a:br>
            <a:r>
              <a:rPr lang="en-DE" sz="2000" dirty="0"/>
              <a:t>900 V </a:t>
            </a:r>
            <a:r>
              <a:rPr lang="en-DE" sz="2000" dirty="0">
                <a:sym typeface="Wingdings" panose="05000000000000000000" pitchFamily="2" charset="2"/>
              </a:rPr>
              <a:t>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DE" sz="2000" dirty="0">
                <a:sym typeface="Wingdings" panose="05000000000000000000" pitchFamily="2" charset="2"/>
              </a:rPr>
              <a:t>1800 V IGBT</a:t>
            </a:r>
            <a:br>
              <a:rPr lang="en-DE" sz="2000" dirty="0">
                <a:sym typeface="Wingdings" panose="05000000000000000000" pitchFamily="2" charset="2"/>
              </a:rPr>
            </a:br>
            <a:r>
              <a:rPr lang="en-DE" sz="2000" dirty="0">
                <a:sym typeface="Wingdings" panose="05000000000000000000" pitchFamily="2" charset="2"/>
              </a:rPr>
              <a:t>1500 V 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DE" sz="2000" dirty="0">
                <a:sym typeface="Wingdings" panose="05000000000000000000" pitchFamily="2" charset="2"/>
              </a:rPr>
              <a:t>3300 V IGBT</a:t>
            </a:r>
            <a:br>
              <a:rPr lang="en-DE" sz="2000" dirty="0">
                <a:sym typeface="Wingdings" panose="05000000000000000000" pitchFamily="2" charset="2"/>
              </a:rPr>
            </a:br>
            <a:r>
              <a:rPr lang="en-DE" sz="2000" dirty="0">
                <a:sym typeface="Wingdings" panose="05000000000000000000" pitchFamily="2" charset="2"/>
              </a:rPr>
              <a:t>3000 V 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DE" sz="2000" dirty="0">
                <a:sym typeface="Wingdings" panose="05000000000000000000" pitchFamily="2" charset="2"/>
              </a:rPr>
              <a:t>6500 V IGBT</a:t>
            </a:r>
            <a:endParaRPr lang="en-DE" sz="2000" dirty="0"/>
          </a:p>
          <a:p>
            <a:pPr lvl="1"/>
            <a:endParaRPr lang="en-US" sz="2000" dirty="0"/>
          </a:p>
        </p:txBody>
      </p:sp>
      <p:pic>
        <p:nvPicPr>
          <p:cNvPr id="15" name="Picture 14" descr="6-pulse, 2-Level converter">
            <a:extLst>
              <a:ext uri="{FF2B5EF4-FFF2-40B4-BE49-F238E27FC236}">
                <a16:creationId xmlns:a16="http://schemas.microsoft.com/office/drawing/2014/main" id="{E092ED68-AEE9-C01B-8F1D-55781A5B8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09" y="1768128"/>
            <a:ext cx="4495800" cy="43159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0B60CF-8A10-479B-BF7E-75E1C3B0F3A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562149"/>
            <a:ext cx="10515600" cy="1325563"/>
          </a:xfrm>
        </p:spPr>
        <p:txBody>
          <a:bodyPr/>
          <a:lstStyle/>
          <a:p>
            <a:r>
              <a:rPr lang="en-US" dirty="0"/>
              <a:t>Converter</a:t>
            </a:r>
          </a:p>
        </p:txBody>
      </p:sp>
    </p:spTree>
    <p:extLst>
      <p:ext uri="{BB962C8B-B14F-4D97-AF65-F5344CB8AC3E}">
        <p14:creationId xmlns:p14="http://schemas.microsoft.com/office/powerpoint/2010/main" val="3290292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A88CA445-78E9-5767-1634-C545A7F89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E1634195-3FF8-9455-7F15-85D916E9A172}"/>
              </a:ext>
            </a:extLst>
          </p:cNvPr>
          <p:cNvSpPr txBox="1"/>
          <p:nvPr/>
        </p:nvSpPr>
        <p:spPr>
          <a:xfrm>
            <a:off x="115900" y="984999"/>
            <a:ext cx="6806100" cy="991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DE" sz="3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onverter</a:t>
            </a:r>
            <a:endParaRPr lang="en-DE"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Copy">
            <a:extLst>
              <a:ext uri="{FF2B5EF4-FFF2-40B4-BE49-F238E27FC236}">
                <a16:creationId xmlns:a16="http://schemas.microsoft.com/office/drawing/2014/main" id="{FEC06582-8018-83D0-95FD-B8A21C826B4F}"/>
              </a:ext>
            </a:extLst>
          </p:cNvPr>
          <p:cNvSpPr txBox="1">
            <a:spLocks/>
          </p:cNvSpPr>
          <p:nvPr/>
        </p:nvSpPr>
        <p:spPr>
          <a:xfrm>
            <a:off x="115901" y="1859512"/>
            <a:ext cx="6551600" cy="356973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sz="2000" dirty="0"/>
              <a:t>The voltage class of the IGBTs are usually refer to the maximum voltage that can be applied across the terminals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DE" sz="20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sz="2000" dirty="0"/>
              <a:t>For system design the maximum steady state voltage has to be considered</a:t>
            </a:r>
          </a:p>
          <a:p>
            <a:pPr lvl="1"/>
            <a:endParaRPr lang="en-US" sz="2000" dirty="0"/>
          </a:p>
        </p:txBody>
      </p:sp>
      <p:pic>
        <p:nvPicPr>
          <p:cNvPr id="3" name="Picture 2" descr="A list of a parametrics. ">
            <a:extLst>
              <a:ext uri="{FF2B5EF4-FFF2-40B4-BE49-F238E27FC236}">
                <a16:creationId xmlns:a16="http://schemas.microsoft.com/office/drawing/2014/main" id="{C57FFDF5-06DD-7B76-493B-3FC506498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7491" y="984999"/>
            <a:ext cx="5288608" cy="3210027"/>
          </a:xfrm>
          <a:prstGeom prst="rect">
            <a:avLst/>
          </a:prstGeom>
        </p:spPr>
      </p:pic>
      <p:pic>
        <p:nvPicPr>
          <p:cNvPr id="7" name="Picture 6" descr="A screenshot of a Package with DC stability highlighted. ">
            <a:extLst>
              <a:ext uri="{FF2B5EF4-FFF2-40B4-BE49-F238E27FC236}">
                <a16:creationId xmlns:a16="http://schemas.microsoft.com/office/drawing/2014/main" id="{0B4B10CC-7E5D-44A8-2996-08CC802413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7491" y="4374050"/>
            <a:ext cx="4737343" cy="22099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DB3B74-01CD-460E-BF45-71DED7A5598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70914" y="-1440602"/>
            <a:ext cx="10515600" cy="1325563"/>
          </a:xfrm>
        </p:spPr>
        <p:txBody>
          <a:bodyPr/>
          <a:lstStyle/>
          <a:p>
            <a:r>
              <a:rPr lang="en-US" dirty="0"/>
              <a:t>Converter</a:t>
            </a:r>
            <a:r>
              <a:rPr lang="en-US" baseline="0" dirty="0"/>
              <a:t> (cont’d)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574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BCE6806E-8520-6688-FF8C-D0B640BF2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66BF3EFC-3084-8692-9413-E30E738382D6}"/>
              </a:ext>
            </a:extLst>
          </p:cNvPr>
          <p:cNvSpPr txBox="1"/>
          <p:nvPr/>
        </p:nvSpPr>
        <p:spPr>
          <a:xfrm>
            <a:off x="115900" y="984999"/>
            <a:ext cx="6806100" cy="78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DE" sz="3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onverter</a:t>
            </a: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Terminology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n image of a converter with terminology according to IEC 62747. ">
            <a:extLst>
              <a:ext uri="{FF2B5EF4-FFF2-40B4-BE49-F238E27FC236}">
                <a16:creationId xmlns:a16="http://schemas.microsoft.com/office/drawing/2014/main" id="{4EC2BCD1-B663-3693-FB26-F7D3E4D7A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34" y="1993807"/>
            <a:ext cx="5881032" cy="4356891"/>
          </a:xfrm>
          <a:prstGeom prst="rect">
            <a:avLst/>
          </a:prstGeom>
        </p:spPr>
      </p:pic>
      <p:pic>
        <p:nvPicPr>
          <p:cNvPr id="5" name="Picture 4" descr="The image of a VSC unit using switch type valves. ">
            <a:extLst>
              <a:ext uri="{FF2B5EF4-FFF2-40B4-BE49-F238E27FC236}">
                <a16:creationId xmlns:a16="http://schemas.microsoft.com/office/drawing/2014/main" id="{9CF44E6F-9327-3954-52F8-F1E95CC30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5812" y="3429000"/>
            <a:ext cx="3397425" cy="7683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DEB6A3-D07C-97B1-4175-9D9B05013FB4}"/>
              </a:ext>
            </a:extLst>
          </p:cNvPr>
          <p:cNvSpPr txBox="1"/>
          <p:nvPr/>
        </p:nvSpPr>
        <p:spPr>
          <a:xfrm>
            <a:off x="1344705" y="6437877"/>
            <a:ext cx="43484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IEC 62747:2014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ED4D6C-2717-4588-A72B-4AE00A9634E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548081"/>
            <a:ext cx="10515600" cy="1325563"/>
          </a:xfrm>
        </p:spPr>
        <p:txBody>
          <a:bodyPr/>
          <a:lstStyle/>
          <a:p>
            <a:r>
              <a:rPr lang="en-US" dirty="0"/>
              <a:t>Converter</a:t>
            </a:r>
            <a:r>
              <a:rPr lang="en-US" baseline="0" dirty="0"/>
              <a:t> Terminology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078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0250457F-E275-3B97-036F-A6D6DB476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6149F51F-5045-824B-33B9-83D73868A7F0}"/>
              </a:ext>
            </a:extLst>
          </p:cNvPr>
          <p:cNvSpPr txBox="1"/>
          <p:nvPr/>
        </p:nvSpPr>
        <p:spPr>
          <a:xfrm>
            <a:off x="115900" y="984999"/>
            <a:ext cx="6806100" cy="78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DE" sz="3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onverter</a:t>
            </a: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Output Voltage Generation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Picture 7" descr="An image showing a Converter Output Voltage Generation. ">
            <a:extLst>
              <a:ext uri="{FF2B5EF4-FFF2-40B4-BE49-F238E27FC236}">
                <a16:creationId xmlns:a16="http://schemas.microsoft.com/office/drawing/2014/main" id="{17ED0675-B4C4-76F7-2726-6386305F3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933574"/>
            <a:ext cx="4800600" cy="3665913"/>
          </a:xfrm>
          <a:prstGeom prst="rect">
            <a:avLst/>
          </a:prstGeom>
        </p:spPr>
      </p:pic>
      <p:pic>
        <p:nvPicPr>
          <p:cNvPr id="10" name="Picture 9" descr="Example of 2-Level voltage definition">
            <a:extLst>
              <a:ext uri="{FF2B5EF4-FFF2-40B4-BE49-F238E27FC236}">
                <a16:creationId xmlns:a16="http://schemas.microsoft.com/office/drawing/2014/main" id="{755BD15E-2162-F95B-9397-424B4BC141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0" y="2483643"/>
            <a:ext cx="3955953" cy="18907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29C506-37CB-4BF0-9257-990BDC3F244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2950" y="-1519945"/>
            <a:ext cx="10515600" cy="1325563"/>
          </a:xfrm>
        </p:spPr>
        <p:txBody>
          <a:bodyPr/>
          <a:lstStyle/>
          <a:p>
            <a:r>
              <a:rPr lang="en-US" dirty="0"/>
              <a:t>Converter</a:t>
            </a:r>
            <a:r>
              <a:rPr lang="en-US" baseline="0" dirty="0"/>
              <a:t> output voltage generation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416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0744FB74-FA1F-73B4-235C-E952363DD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215D975D-4DB9-905F-9CBF-366AD8DC0583}"/>
              </a:ext>
            </a:extLst>
          </p:cNvPr>
          <p:cNvSpPr txBox="1"/>
          <p:nvPr/>
        </p:nvSpPr>
        <p:spPr>
          <a:xfrm>
            <a:off x="115900" y="984999"/>
            <a:ext cx="6806100" cy="78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DE" sz="3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onverter</a:t>
            </a: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Output Voltage Generation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chart illustrating pulse wide modulation principle. ">
            <a:extLst>
              <a:ext uri="{FF2B5EF4-FFF2-40B4-BE49-F238E27FC236}">
                <a16:creationId xmlns:a16="http://schemas.microsoft.com/office/drawing/2014/main" id="{46D4FFDD-C98E-51F9-D7C4-D703D1FA0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2157412"/>
            <a:ext cx="5988230" cy="3715589"/>
          </a:xfrm>
          <a:prstGeom prst="rect">
            <a:avLst/>
          </a:prstGeom>
        </p:spPr>
      </p:pic>
      <p:sp>
        <p:nvSpPr>
          <p:cNvPr id="4" name="Copy">
            <a:extLst>
              <a:ext uri="{FF2B5EF4-FFF2-40B4-BE49-F238E27FC236}">
                <a16:creationId xmlns:a16="http://schemas.microsoft.com/office/drawing/2014/main" id="{92C08486-9AE8-1249-BD1F-7AC569703388}"/>
              </a:ext>
            </a:extLst>
          </p:cNvPr>
          <p:cNvSpPr txBox="1">
            <a:spLocks/>
          </p:cNvSpPr>
          <p:nvPr/>
        </p:nvSpPr>
        <p:spPr>
          <a:xfrm>
            <a:off x="6545275" y="2157411"/>
            <a:ext cx="5399075" cy="431006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sz="2000" dirty="0"/>
              <a:t>The requested voltage signal is synthesized by Pulse Wide Modulation (PWM) with  </a:t>
            </a:r>
            <a:r>
              <a:rPr lang="en-DE" sz="2000" dirty="0" err="1"/>
              <a:t>sw</a:t>
            </a:r>
            <a:r>
              <a:rPr lang="en-US" sz="2000" dirty="0"/>
              <a:t>it</a:t>
            </a:r>
            <a:r>
              <a:rPr lang="en-DE" sz="2000" dirty="0"/>
              <a:t>ching between +U</a:t>
            </a:r>
            <a:r>
              <a:rPr lang="en-DE" sz="2000" baseline="-25000" dirty="0"/>
              <a:t>dpe</a:t>
            </a:r>
            <a:r>
              <a:rPr lang="en-DE" sz="2000" dirty="0"/>
              <a:t> and -U</a:t>
            </a:r>
            <a:r>
              <a:rPr lang="en-DE" sz="2000" baseline="-25000" dirty="0"/>
              <a:t>dpe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High switching frequency (&gt; 2kHz)</a:t>
            </a:r>
            <a:r>
              <a:rPr lang="en-DE" sz="2000" dirty="0"/>
              <a:t> is necessary for an appropriate signal quality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sz="2000" dirty="0"/>
              <a:t>Additional</a:t>
            </a:r>
            <a:r>
              <a:rPr lang="en-US" sz="2000" dirty="0"/>
              <a:t>l</a:t>
            </a:r>
            <a:r>
              <a:rPr lang="en-DE" sz="2000" dirty="0"/>
              <a:t>y to the high switching frequency AC filters are installed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sz="2000" dirty="0"/>
              <a:t>The maximum AC output voltage that can be delivered by the converters depends on the available DC voltage, relation be</a:t>
            </a:r>
            <a:r>
              <a:rPr lang="en-US" sz="2000" dirty="0"/>
              <a:t>t</a:t>
            </a:r>
            <a:r>
              <a:rPr lang="en-DE" sz="2000" dirty="0"/>
              <a:t>ween AC and DC voltage is called </a:t>
            </a:r>
            <a:r>
              <a:rPr lang="en-DE" sz="2000" b="1" dirty="0"/>
              <a:t>modulation index</a:t>
            </a:r>
          </a:p>
          <a:p>
            <a:pPr lvl="1"/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8DCBE1-8CDE-4996-A7BA-CE99E1C5396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42778" y="-1899774"/>
            <a:ext cx="10515600" cy="1325563"/>
          </a:xfrm>
        </p:spPr>
        <p:txBody>
          <a:bodyPr/>
          <a:lstStyle/>
          <a:p>
            <a:r>
              <a:rPr lang="en-US" dirty="0"/>
              <a:t>Converter output voltage generation (cont’d)</a:t>
            </a:r>
          </a:p>
        </p:txBody>
      </p:sp>
    </p:spTree>
    <p:extLst>
      <p:ext uri="{BB962C8B-B14F-4D97-AF65-F5344CB8AC3E}">
        <p14:creationId xmlns:p14="http://schemas.microsoft.com/office/powerpoint/2010/main" val="1050918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CE1120F2-42E7-ECAF-2279-EC6A22D98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742B2575-6604-4FE2-BF31-955F767A55AF}"/>
              </a:ext>
            </a:extLst>
          </p:cNvPr>
          <p:cNvSpPr txBox="1"/>
          <p:nvPr/>
        </p:nvSpPr>
        <p:spPr>
          <a:xfrm>
            <a:off x="115900" y="984999"/>
            <a:ext cx="6806100" cy="78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DE" sz="3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onverter</a:t>
            </a: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Output Voltage Generation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B642B073-C8AE-BF05-B2B8-1A698AEA89DE}"/>
              </a:ext>
            </a:extLst>
          </p:cNvPr>
          <p:cNvSpPr txBox="1">
            <a:spLocks/>
          </p:cNvSpPr>
          <p:nvPr/>
        </p:nvSpPr>
        <p:spPr>
          <a:xfrm>
            <a:off x="5842536" y="2157411"/>
            <a:ext cx="5640404" cy="431006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sz="2000" dirty="0"/>
              <a:t>The voltage can be changed only between two states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DE" sz="20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sz="2000" dirty="0"/>
              <a:t>The creation of any voltage is done by changing of the duration positive and negative voltage is applied:</a:t>
            </a:r>
            <a:br>
              <a:rPr lang="en-DE" sz="2000" dirty="0"/>
            </a:br>
            <a:endParaRPr lang="en-DE" sz="20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DE" sz="20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DE" sz="20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sz="2000" dirty="0"/>
              <a:t>To create a smooth output a high switching frequency/small time step is required</a:t>
            </a:r>
          </a:p>
          <a:p>
            <a:pPr lvl="1"/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041F5-493D-EAAD-4BEF-D2F2DA4F181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42778" y="-1899774"/>
            <a:ext cx="10515600" cy="1325563"/>
          </a:xfrm>
        </p:spPr>
        <p:txBody>
          <a:bodyPr/>
          <a:lstStyle/>
          <a:p>
            <a:r>
              <a:rPr lang="en-US" dirty="0"/>
              <a:t>Converter output voltage generation (cont’d)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75C681-42B1-E566-9D36-0876A768C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73" y="2157411"/>
            <a:ext cx="4895496" cy="2789612"/>
          </a:xfrm>
          <a:prstGeom prst="rect">
            <a:avLst/>
          </a:prstGeom>
        </p:spPr>
      </p:pic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10F14C7A-20E0-B2D7-77B8-6A2A1E844E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8806184"/>
              </p:ext>
            </p:extLst>
          </p:nvPr>
        </p:nvGraphicFramePr>
        <p:xfrm>
          <a:off x="6334669" y="4176693"/>
          <a:ext cx="4656137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55450" imgH="646189" progId="Equation.DSMT4">
                  <p:embed/>
                </p:oleObj>
              </mc:Choice>
              <mc:Fallback>
                <p:oleObj name="Equation" r:id="rId4" imgW="4655450" imgH="646189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10F14C7A-20E0-B2D7-77B8-6A2A1E844E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34669" y="4176693"/>
                        <a:ext cx="4656137" cy="646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84320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py">
            <a:extLst>
              <a:ext uri="{FF2B5EF4-FFF2-40B4-BE49-F238E27FC236}">
                <a16:creationId xmlns:a16="http://schemas.microsoft.com/office/drawing/2014/main" id="{0F371E3C-D125-6C33-A16E-B5FD0E7AF711}"/>
              </a:ext>
            </a:extLst>
          </p:cNvPr>
          <p:cNvSpPr txBox="1">
            <a:spLocks/>
          </p:cNvSpPr>
          <p:nvPr/>
        </p:nvSpPr>
        <p:spPr>
          <a:xfrm>
            <a:off x="453190" y="5389655"/>
            <a:ext cx="2801528" cy="38249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 algn="ctr"/>
            <a:r>
              <a:rPr lang="en-DE" sz="1800" dirty="0"/>
              <a:t>Reference voltage</a:t>
            </a:r>
          </a:p>
          <a:p>
            <a:pPr marL="447675" lvl="2" indent="-268288" defTabSz="987425">
              <a:buFont typeface="Wingdings" panose="05000000000000000000" pitchFamily="2" charset="2"/>
              <a:buChar char="Ø"/>
            </a:pPr>
            <a:endParaRPr lang="en-DE" sz="1800" dirty="0"/>
          </a:p>
          <a:p>
            <a:pPr marL="447675" lvl="2" indent="-268288" defTabSz="987425">
              <a:buFont typeface="Wingdings" panose="05000000000000000000" pitchFamily="2" charset="2"/>
              <a:buChar char="Ø"/>
            </a:pPr>
            <a:endParaRPr lang="en-DE" sz="1800" dirty="0"/>
          </a:p>
          <a:p>
            <a:pPr lvl="1"/>
            <a:endParaRPr lang="en-DE" sz="1800" b="1" dirty="0"/>
          </a:p>
          <a:p>
            <a:pPr lvl="1"/>
            <a:endParaRPr lang="en-DE" sz="1800" b="1" dirty="0"/>
          </a:p>
          <a:p>
            <a:pPr lvl="1"/>
            <a:endParaRPr lang="en-US" sz="1800" dirty="0"/>
          </a:p>
          <a:p>
            <a:pPr marL="360000" lvl="3"/>
            <a:endParaRPr lang="en-DE" sz="1800" dirty="0"/>
          </a:p>
          <a:p>
            <a:pPr lvl="1"/>
            <a:endParaRPr lang="en-US" sz="18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EC37FD4-505E-D157-5D82-4DD00DE1E8A3}"/>
              </a:ext>
            </a:extLst>
          </p:cNvPr>
          <p:cNvSpPr/>
          <p:nvPr/>
        </p:nvSpPr>
        <p:spPr>
          <a:xfrm>
            <a:off x="4754692" y="3642183"/>
            <a:ext cx="2490108" cy="951140"/>
          </a:xfrm>
          <a:prstGeom prst="round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DE" dirty="0">
                <a:solidFill>
                  <a:schemeClr val="tx1"/>
                </a:solidFill>
              </a:rPr>
              <a:t>Modulation Technique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2F0EA215-CA9B-4317-A010-6727189152D3}"/>
              </a:ext>
            </a:extLst>
          </p:cNvPr>
          <p:cNvSpPr/>
          <p:nvPr/>
        </p:nvSpPr>
        <p:spPr>
          <a:xfrm>
            <a:off x="3876002" y="4113760"/>
            <a:ext cx="498022" cy="118382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C07F2D8-EB78-80F7-59D8-EF47BC7CADCF}"/>
              </a:ext>
            </a:extLst>
          </p:cNvPr>
          <p:cNvSpPr/>
          <p:nvPr/>
        </p:nvSpPr>
        <p:spPr>
          <a:xfrm>
            <a:off x="7654785" y="4113760"/>
            <a:ext cx="498022" cy="118382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py">
            <a:extLst>
              <a:ext uri="{FF2B5EF4-FFF2-40B4-BE49-F238E27FC236}">
                <a16:creationId xmlns:a16="http://schemas.microsoft.com/office/drawing/2014/main" id="{D41A68C8-4C5C-CF3E-89D4-0BE84C88E16F}"/>
              </a:ext>
            </a:extLst>
          </p:cNvPr>
          <p:cNvSpPr txBox="1">
            <a:spLocks/>
          </p:cNvSpPr>
          <p:nvPr/>
        </p:nvSpPr>
        <p:spPr>
          <a:xfrm>
            <a:off x="8392371" y="5389655"/>
            <a:ext cx="3375312" cy="3824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Font typeface="Arial" panose="020B0604020202020204" pitchFamily="34" charset="0"/>
              <a:buNone/>
            </a:pPr>
            <a:r>
              <a:rPr lang="en-DE" dirty="0"/>
              <a:t>Modulated voltage</a:t>
            </a:r>
          </a:p>
          <a:p>
            <a:pPr marL="447675" lvl="2" indent="-268288" defTabSz="987425">
              <a:buFont typeface="Wingdings" panose="05000000000000000000" pitchFamily="2" charset="2"/>
              <a:buChar char="Ø"/>
            </a:pPr>
            <a:endParaRPr lang="en-DE" dirty="0"/>
          </a:p>
          <a:p>
            <a:pPr marL="447675" lvl="2" indent="-268288" defTabSz="987425">
              <a:buFont typeface="Wingdings" panose="05000000000000000000" pitchFamily="2" charset="2"/>
              <a:buChar char="Ø"/>
            </a:pPr>
            <a:endParaRPr lang="en-DE" dirty="0"/>
          </a:p>
          <a:p>
            <a:pPr lvl="1"/>
            <a:endParaRPr lang="en-DE" b="1" dirty="0"/>
          </a:p>
          <a:p>
            <a:pPr marL="0" lvl="1" indent="0">
              <a:buFont typeface="Arial" panose="020B0604020202020204" pitchFamily="34" charset="0"/>
              <a:buNone/>
            </a:pPr>
            <a:endParaRPr lang="en-DE" b="1" dirty="0"/>
          </a:p>
          <a:p>
            <a:pPr lvl="1"/>
            <a:endParaRPr lang="en-US" dirty="0"/>
          </a:p>
          <a:p>
            <a:pPr marL="360000" lvl="3" indent="0">
              <a:buFont typeface="Arial" panose="020B0604020202020204" pitchFamily="34" charset="0"/>
              <a:buNone/>
            </a:pPr>
            <a:endParaRPr lang="en-DE" dirty="0"/>
          </a:p>
          <a:p>
            <a:pPr lvl="1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4C002C-7013-4232-E8D9-E2030346A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2371" y="3066601"/>
            <a:ext cx="3375312" cy="2094320"/>
          </a:xfrm>
          <a:prstGeom prst="rect">
            <a:avLst/>
          </a:prstGeom>
        </p:spPr>
      </p:pic>
      <p:sp>
        <p:nvSpPr>
          <p:cNvPr id="11" name="Google Shape;70;p2">
            <a:extLst>
              <a:ext uri="{FF2B5EF4-FFF2-40B4-BE49-F238E27FC236}">
                <a16:creationId xmlns:a16="http://schemas.microsoft.com/office/drawing/2014/main" id="{DFBA8D27-0BCE-F3D5-A05C-8921A0120D94}"/>
              </a:ext>
            </a:extLst>
          </p:cNvPr>
          <p:cNvSpPr txBox="1"/>
          <p:nvPr/>
        </p:nvSpPr>
        <p:spPr>
          <a:xfrm>
            <a:off x="115900" y="984999"/>
            <a:ext cx="6806100" cy="78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DE" sz="3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odulation</a:t>
            </a: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Technique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F0676EF-A7D2-3FF5-32DA-8D4B2607D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27" y="3066601"/>
            <a:ext cx="3375311" cy="209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261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/>
          <p:nvPr/>
        </p:nvSpPr>
        <p:spPr>
          <a:xfrm>
            <a:off x="115899" y="985000"/>
            <a:ext cx="8194027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2-Level </a:t>
            </a: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VSC-HVDC converters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249250" y="1880035"/>
            <a:ext cx="6551600" cy="4711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Series connection of IGBTs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42925" lvl="1" indent="-36195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000"/>
              <a:buFont typeface="Wingdings" panose="05000000000000000000" pitchFamily="2" charset="2"/>
              <a:buChar char="Ø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Connection of several hundred IGBTs in series</a:t>
            </a:r>
            <a:endParaRPr lang="en-US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 energy storage (capacitor)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42925" lvl="1" indent="-36195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000"/>
              <a:buFont typeface="Wingdings" panose="05000000000000000000" pitchFamily="2" charset="2"/>
              <a:buChar char="Ø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Capacitors have to be designed for the high voltage</a:t>
            </a:r>
          </a:p>
          <a:p>
            <a:pPr marL="542925" lvl="1" indent="-36195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000"/>
              <a:buFont typeface="Wingdings" panose="05000000000000000000" pitchFamily="2" charset="2"/>
              <a:buChar char="Ø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Capacitors are not redundant, a failure in the capacitor can cause the complete converter outage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rafik 49" descr="An image of a 2-level VSC-HVDC converters. ">
            <a:extLst>
              <a:ext uri="{FF2B5EF4-FFF2-40B4-BE49-F238E27FC236}">
                <a16:creationId xmlns:a16="http://schemas.microsoft.com/office/drawing/2014/main" id="{16AB9D57-50C0-F6E8-E2D6-F2F7E51129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4381" y="1068986"/>
            <a:ext cx="1850468" cy="568423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9008F7F-24C4-B828-7533-F58F0E4AE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23701" y="1888531"/>
            <a:ext cx="294690" cy="11917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A8BB54D-21E2-4141-99F7-008740AFCF2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55320" y="-1674690"/>
            <a:ext cx="10515600" cy="1325563"/>
          </a:xfrm>
        </p:spPr>
        <p:txBody>
          <a:bodyPr/>
          <a:lstStyle/>
          <a:p>
            <a:r>
              <a:rPr lang="en-US" dirty="0"/>
              <a:t>2-level VSC-HVDC</a:t>
            </a:r>
            <a:r>
              <a:rPr lang="en-US" baseline="0" dirty="0"/>
              <a:t> converters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22E6FD2A-AB56-E8C8-3DAD-3CC345462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00DF3DF1-E3D9-3DBB-4125-D23D3D2DFA7C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2-Level and 3-Level</a:t>
            </a: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0647FC7A-1353-00AA-1349-381283426696}"/>
              </a:ext>
            </a:extLst>
          </p:cNvPr>
          <p:cNvSpPr txBox="1"/>
          <p:nvPr/>
        </p:nvSpPr>
        <p:spPr>
          <a:xfrm>
            <a:off x="115900" y="1814607"/>
            <a:ext cx="5715353" cy="1318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Switching impulses</a:t>
            </a:r>
            <a:endParaRPr lang="da-DK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switching impulses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HF filter requirement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Special shielding of the converter building required</a:t>
            </a:r>
            <a:endParaRPr lang="en-US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7C3C90-51EA-A54E-9F70-92A93C4F0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037" y="1656853"/>
            <a:ext cx="4227651" cy="2952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4A2C50-6908-4958-A87B-3B4E3388923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40193" y="-1646555"/>
            <a:ext cx="10515600" cy="1325563"/>
          </a:xfrm>
        </p:spPr>
        <p:txBody>
          <a:bodyPr/>
          <a:lstStyle/>
          <a:p>
            <a:r>
              <a:rPr lang="en-US" dirty="0"/>
              <a:t>2-level and 3-level </a:t>
            </a:r>
          </a:p>
        </p:txBody>
      </p:sp>
    </p:spTree>
    <p:extLst>
      <p:ext uri="{BB962C8B-B14F-4D97-AF65-F5344CB8AC3E}">
        <p14:creationId xmlns:p14="http://schemas.microsoft.com/office/powerpoint/2010/main" val="3484829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BB3AF12E-B3BF-7E8A-D86D-1FB1F7B1D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03BAC716-DEC3-F2D5-7B4D-D08D4D704221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2-Level and 3-Level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E5FE69E7-E0CF-3B04-F96B-BA2951B8CAD3}"/>
              </a:ext>
            </a:extLst>
          </p:cNvPr>
          <p:cNvSpPr txBox="1"/>
          <p:nvPr/>
        </p:nvSpPr>
        <p:spPr>
          <a:xfrm>
            <a:off x="115900" y="1814607"/>
            <a:ext cx="8837419" cy="2189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Series connection of IGBTs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is flowing through all IGBTs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happens in case of IGBT fault? 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 Converter must continue to operate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endParaRPr lang="en-US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DE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Fail-Safe IGBTs required</a:t>
            </a:r>
            <a:endParaRPr lang="en-US"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 descr="An image of 2-level and 3-level series connections of IGBTs. ">
            <a:extLst>
              <a:ext uri="{FF2B5EF4-FFF2-40B4-BE49-F238E27FC236}">
                <a16:creationId xmlns:a16="http://schemas.microsoft.com/office/drawing/2014/main" id="{C16386D3-39AC-B581-38CC-BE2FE8059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7713" y="916882"/>
            <a:ext cx="680940" cy="5024235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EFB55E0-CCB9-EB62-7BCD-0FEC281A60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9845420" y="3748535"/>
            <a:ext cx="914400" cy="719138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50995E6-D488-8729-7AF0-6B5D1730A5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9947713" y="3748535"/>
            <a:ext cx="914400" cy="719138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CC9D6A21-17DA-403C-A29D-1CD58005141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589564"/>
            <a:ext cx="10515600" cy="1325563"/>
          </a:xfrm>
        </p:spPr>
        <p:txBody>
          <a:bodyPr/>
          <a:lstStyle/>
          <a:p>
            <a:r>
              <a:rPr lang="en-US" dirty="0"/>
              <a:t>2-level and 3-level (cont’d)</a:t>
            </a:r>
          </a:p>
        </p:txBody>
      </p:sp>
    </p:spTree>
    <p:extLst>
      <p:ext uri="{BB962C8B-B14F-4D97-AF65-F5344CB8AC3E}">
        <p14:creationId xmlns:p14="http://schemas.microsoft.com/office/powerpoint/2010/main" val="2553018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630C026B-1EF7-912B-91D5-42FBC51C6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D9DA2FEE-0AE8-B6E0-C853-45609939C09F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2-Level and 3-Level</a:t>
            </a: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A77ABD33-29DC-263A-97D7-2691CD3F4BE1}"/>
              </a:ext>
            </a:extLst>
          </p:cNvPr>
          <p:cNvSpPr txBox="1"/>
          <p:nvPr/>
        </p:nvSpPr>
        <p:spPr>
          <a:xfrm>
            <a:off x="115900" y="1814607"/>
            <a:ext cx="7116961" cy="2358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Fail-Safe IGBTs are IGBTs which are capable of</a:t>
            </a:r>
            <a:endParaRPr lang="da-DK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fr-FR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short circuit </a:t>
            </a:r>
            <a:r>
              <a:rPr lang="fr-FR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</a:t>
            </a:r>
            <a:r>
              <a:rPr lang="fr-FR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mode (SCFM)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 resistance in SCFM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IGBT is capable to operate in short circuit till the next maintenance cycle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Figure 1 shows an IGBT press pack module composed of four submodules. Figure 2 shows a design of the contacted Si-chip and an Emitter interface of the Si-chip. ">
            <a:extLst>
              <a:ext uri="{FF2B5EF4-FFF2-40B4-BE49-F238E27FC236}">
                <a16:creationId xmlns:a16="http://schemas.microsoft.com/office/drawing/2014/main" id="{501AD397-EBDC-D4D7-B073-E78B4208B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520" y="985000"/>
            <a:ext cx="2610322" cy="50284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80769E-C2BE-654A-A5E0-FEC6A17DE4B8}"/>
              </a:ext>
            </a:extLst>
          </p:cNvPr>
          <p:cNvSpPr txBox="1"/>
          <p:nvPr/>
        </p:nvSpPr>
        <p:spPr>
          <a:xfrm>
            <a:off x="6840719" y="6134463"/>
            <a:ext cx="466192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i="1" dirty="0"/>
              <a:t>Innovative Metal System for IGBT</a:t>
            </a:r>
            <a:r>
              <a:rPr lang="en-DE" sz="1100" i="1" dirty="0"/>
              <a:t> </a:t>
            </a:r>
            <a:r>
              <a:rPr lang="en-US" sz="1100" i="1" dirty="0"/>
              <a:t>Press Pack Modules</a:t>
            </a:r>
            <a:endParaRPr lang="en-DE" sz="1100" i="1" dirty="0"/>
          </a:p>
          <a:p>
            <a:pPr algn="ctr"/>
            <a:r>
              <a:rPr lang="de-DE" sz="1100" i="1" dirty="0"/>
              <a:t>S. </a:t>
            </a:r>
            <a:r>
              <a:rPr lang="de-DE" sz="1100" i="1" dirty="0" err="1"/>
              <a:t>Gunturi</a:t>
            </a:r>
            <a:r>
              <a:rPr lang="de-DE" sz="1100" i="1" dirty="0"/>
              <a:t>, J. Assal, D. Schneider, S. Eicher </a:t>
            </a:r>
            <a:endParaRPr lang="en-DE" sz="1100" i="1" dirty="0"/>
          </a:p>
          <a:p>
            <a:pPr algn="ctr"/>
            <a:r>
              <a:rPr lang="en-US" sz="1100" i="1" dirty="0"/>
              <a:t>ISPSD, April 2003, Cambridge, England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64B7CA-E4FA-409A-B1C6-6ADD4C642EB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638941"/>
            <a:ext cx="10515600" cy="1325563"/>
          </a:xfrm>
        </p:spPr>
        <p:txBody>
          <a:bodyPr/>
          <a:lstStyle/>
          <a:p>
            <a:r>
              <a:rPr lang="en-US" dirty="0"/>
              <a:t>2-level and 3-level</a:t>
            </a:r>
            <a:r>
              <a:rPr lang="en-US" baseline="0" dirty="0"/>
              <a:t> (cont’d)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552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BA6F5C55-671F-2AF5-AE2A-1E763F45D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7F610302-5256-97AF-A7B6-8E07973E0432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3-Level</a:t>
            </a: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VSC-HVDC converters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BA4287A5-0C55-B999-5AED-F92291811E2B}"/>
              </a:ext>
            </a:extLst>
          </p:cNvPr>
          <p:cNvSpPr txBox="1"/>
          <p:nvPr/>
        </p:nvSpPr>
        <p:spPr>
          <a:xfrm>
            <a:off x="115900" y="1814607"/>
            <a:ext cx="7116961" cy="2358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fr-FR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-Level VSC-HVDC converters were used in some projects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Advantage of the technology is the reduced harmonic content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technology was replaced by 2-Level converters with Optimized PWM (OPWM)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 descr="An image of 3-level VSC-HVDC converters. ">
            <a:extLst>
              <a:ext uri="{FF2B5EF4-FFF2-40B4-BE49-F238E27FC236}">
                <a16:creationId xmlns:a16="http://schemas.microsoft.com/office/drawing/2014/main" id="{4684AF9A-9356-83B4-91A9-B885A5C63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574" y="985000"/>
            <a:ext cx="2352675" cy="5764053"/>
          </a:xfrm>
          <a:prstGeom prst="rect">
            <a:avLst/>
          </a:prstGeom>
        </p:spPr>
      </p:pic>
      <p:pic>
        <p:nvPicPr>
          <p:cNvPr id="9" name="Picture 8" descr="Image illustrating output of the 3-Level converter ">
            <a:extLst>
              <a:ext uri="{FF2B5EF4-FFF2-40B4-BE49-F238E27FC236}">
                <a16:creationId xmlns:a16="http://schemas.microsoft.com/office/drawing/2014/main" id="{B8E84EE1-8E76-399B-1C31-D06D6CD1E8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69692"/>
            <a:ext cx="4935120" cy="23586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0D3ABF-F660-4E0F-A707-B93B3781DD5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25658" y="-1325563"/>
            <a:ext cx="10515600" cy="1325563"/>
          </a:xfrm>
        </p:spPr>
        <p:txBody>
          <a:bodyPr/>
          <a:lstStyle/>
          <a:p>
            <a:r>
              <a:rPr lang="en-US" dirty="0"/>
              <a:t>3-level VSC-HVDC</a:t>
            </a:r>
            <a:r>
              <a:rPr lang="en-US" baseline="0" dirty="0"/>
              <a:t> converters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500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A4EF445B-C4F9-C26C-84DA-76921CD6A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DEE17ED3-85CC-109A-B30B-90B607D0CB30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Q-Operation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 descr="An illustration of a 4Q-Operation. ">
            <a:extLst>
              <a:ext uri="{FF2B5EF4-FFF2-40B4-BE49-F238E27FC236}">
                <a16:creationId xmlns:a16="http://schemas.microsoft.com/office/drawing/2014/main" id="{32134CB3-84AA-4254-28E4-15CBAD94F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537" y="1253650"/>
            <a:ext cx="6062663" cy="50265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DBD36F-66AE-4677-9719-E8CA0197AC4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31068" y="-1505878"/>
            <a:ext cx="10515600" cy="1325563"/>
          </a:xfrm>
        </p:spPr>
        <p:txBody>
          <a:bodyPr/>
          <a:lstStyle/>
          <a:p>
            <a:r>
              <a:rPr lang="en-US" dirty="0"/>
              <a:t>4Q Operation</a:t>
            </a:r>
          </a:p>
        </p:txBody>
      </p:sp>
    </p:spTree>
    <p:extLst>
      <p:ext uri="{BB962C8B-B14F-4D97-AF65-F5344CB8AC3E}">
        <p14:creationId xmlns:p14="http://schemas.microsoft.com/office/powerpoint/2010/main" val="1601150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F92A52F0-F0D5-7CCD-6AE1-5C6E7BA01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0969807B-0221-5B5D-A6B2-B42BAF90B51B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PQ-Operation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n illustration of the PQ-Operation. ">
            <a:extLst>
              <a:ext uri="{FF2B5EF4-FFF2-40B4-BE49-F238E27FC236}">
                <a16:creationId xmlns:a16="http://schemas.microsoft.com/office/drawing/2014/main" id="{FF3135B7-8E26-518C-4491-646019662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680" y="1484790"/>
            <a:ext cx="6696035" cy="49922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97BF95-9F53-471D-A9BE-FA80D523895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73897" y="-1730961"/>
            <a:ext cx="10515600" cy="1325563"/>
          </a:xfrm>
        </p:spPr>
        <p:txBody>
          <a:bodyPr/>
          <a:lstStyle/>
          <a:p>
            <a:r>
              <a:rPr lang="en-US" dirty="0"/>
              <a:t>PQ</a:t>
            </a:r>
            <a:r>
              <a:rPr lang="en-US" baseline="0" dirty="0"/>
              <a:t> Operation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5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69F482FB-DA38-2C9F-0972-012CDD526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8A5958D0-7C45-6284-F076-C8E677B51D14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 vs. U - Operation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 descr="An illustration of the Q vs. U Operation. ">
            <a:extLst>
              <a:ext uri="{FF2B5EF4-FFF2-40B4-BE49-F238E27FC236}">
                <a16:creationId xmlns:a16="http://schemas.microsoft.com/office/drawing/2014/main" id="{797E7409-82DB-3382-399A-DF49F5B1C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0" y="2076450"/>
            <a:ext cx="5715000" cy="398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BD678CC-684F-45B1-8791-265A2BF0B1E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519946"/>
            <a:ext cx="10515600" cy="1325563"/>
          </a:xfrm>
        </p:spPr>
        <p:txBody>
          <a:bodyPr/>
          <a:lstStyle/>
          <a:p>
            <a:r>
              <a:rPr lang="en-US" dirty="0"/>
              <a:t>Q versus</a:t>
            </a:r>
            <a:r>
              <a:rPr lang="en-US" baseline="0" dirty="0"/>
              <a:t> U operation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59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2AD62905-B433-7C38-A1D5-B8F6D0865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627738FA-A803-4924-44C3-8646ED8B32F1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flow</a:t>
            </a: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through the converter</a:t>
            </a:r>
            <a:endParaRPr lang="en-US"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 descr="An illustration of a current flow through the converter.  ">
            <a:extLst>
              <a:ext uri="{FF2B5EF4-FFF2-40B4-BE49-F238E27FC236}">
                <a16:creationId xmlns:a16="http://schemas.microsoft.com/office/drawing/2014/main" id="{91C86E0B-E635-33C6-9C7C-B24560132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1704975"/>
            <a:ext cx="4381500" cy="4730750"/>
          </a:xfrm>
          <a:prstGeom prst="rect">
            <a:avLst/>
          </a:prstGeom>
        </p:spPr>
      </p:pic>
      <p:sp>
        <p:nvSpPr>
          <p:cNvPr id="6" name="Google Shape;71;p2">
            <a:extLst>
              <a:ext uri="{FF2B5EF4-FFF2-40B4-BE49-F238E27FC236}">
                <a16:creationId xmlns:a16="http://schemas.microsoft.com/office/drawing/2014/main" id="{F5CD71B7-19AD-64E4-A0BF-BBB1D233674F}"/>
              </a:ext>
            </a:extLst>
          </p:cNvPr>
          <p:cNvSpPr txBox="1"/>
          <p:nvPr/>
        </p:nvSpPr>
        <p:spPr>
          <a:xfrm>
            <a:off x="6096000" y="1704975"/>
            <a:ext cx="5686425" cy="2358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 current is divided among three converter phases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 current is split among the two poles</a:t>
            </a: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2A2F3C-4FE7-4509-A1B3-1CA4C86999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90575" y="-1801300"/>
            <a:ext cx="10515600" cy="1325563"/>
          </a:xfrm>
        </p:spPr>
        <p:txBody>
          <a:bodyPr/>
          <a:lstStyle/>
          <a:p>
            <a:r>
              <a:rPr lang="en-US" dirty="0"/>
              <a:t>Current flow through the converter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1615733-404E-B064-DBF0-D76906E402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3532503"/>
              </p:ext>
            </p:extLst>
          </p:nvPr>
        </p:nvGraphicFramePr>
        <p:xfrm>
          <a:off x="6580940" y="3994067"/>
          <a:ext cx="37465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46225" imgH="984570" progId="Equation.DSMT4">
                  <p:embed/>
                </p:oleObj>
              </mc:Choice>
              <mc:Fallback>
                <p:oleObj name="Equation" r:id="rId4" imgW="3746225" imgH="98457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E1615733-404E-B064-DBF0-D76906E402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580940" y="3994067"/>
                        <a:ext cx="3746500" cy="984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0277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73C5C74D-C520-760D-6F25-D7B9B34D8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5A575F31-CB79-9C28-B55A-CFF0FAA7FAD4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DE" sz="3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oint</a:t>
            </a: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Definition for Power</a:t>
            </a:r>
            <a:endParaRPr lang="en-US"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An illustration of the point of definition for power definition. ">
            <a:extLst>
              <a:ext uri="{FF2B5EF4-FFF2-40B4-BE49-F238E27FC236}">
                <a16:creationId xmlns:a16="http://schemas.microsoft.com/office/drawing/2014/main" id="{93B51F84-34F9-994E-5FF4-527498F56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309811"/>
            <a:ext cx="8991600" cy="2609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1397DD-EA34-44BD-918C-E2161BC7723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576217"/>
            <a:ext cx="10515600" cy="1325563"/>
          </a:xfrm>
        </p:spPr>
        <p:txBody>
          <a:bodyPr/>
          <a:lstStyle/>
          <a:p>
            <a:r>
              <a:rPr lang="en-US" dirty="0"/>
              <a:t>Point of Definition for</a:t>
            </a:r>
            <a:r>
              <a:rPr lang="en-US" baseline="0" dirty="0"/>
              <a:t> Power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153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5BFBFBBE-A303-12A4-C8D7-F5482AAE4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EE8DD3B2-604B-D484-D3D2-20E31ED9E0BA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DE" sz="3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ower</a:t>
            </a: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Flow</a:t>
            </a:r>
            <a:endParaRPr lang="en-US"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An illustration of Power Flow. ">
            <a:extLst>
              <a:ext uri="{FF2B5EF4-FFF2-40B4-BE49-F238E27FC236}">
                <a16:creationId xmlns:a16="http://schemas.microsoft.com/office/drawing/2014/main" id="{2887A4AB-B4C2-34F0-5A18-0825E4015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000" y="2311199"/>
            <a:ext cx="8572500" cy="1962150"/>
          </a:xfrm>
          <a:prstGeom prst="rect">
            <a:avLst/>
          </a:prstGeom>
        </p:spPr>
      </p:pic>
      <p:sp>
        <p:nvSpPr>
          <p:cNvPr id="5" name="Google Shape;71;p2">
            <a:extLst>
              <a:ext uri="{FF2B5EF4-FFF2-40B4-BE49-F238E27FC236}">
                <a16:creationId xmlns:a16="http://schemas.microsoft.com/office/drawing/2014/main" id="{4228A3EA-3F30-216A-979D-953A6FED1600}"/>
              </a:ext>
            </a:extLst>
          </p:cNvPr>
          <p:cNvSpPr txBox="1"/>
          <p:nvPr/>
        </p:nvSpPr>
        <p:spPr>
          <a:xfrm>
            <a:off x="201825" y="4766229"/>
            <a:ext cx="11705253" cy="196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 Flow principles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DC voltage drop</a:t>
            </a:r>
          </a:p>
          <a:p>
            <a: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sz="2000" b="0" i="0" u="none" strike="noStrike" cap="none" baseline="-25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DC,rec</a:t>
            </a:r>
            <a:r>
              <a: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US" sz="2000" b="0" i="0" u="none" strike="noStrike" cap="none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DC,</a:t>
            </a:r>
            <a:r>
              <a:rPr lang="en-DE" sz="2000" b="0" i="0" u="none" strike="noStrike" cap="none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Modulation index principle:</a:t>
            </a:r>
          </a:p>
          <a:p>
            <a: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</a:t>
            </a:r>
            <a:r>
              <a:rPr lang="en-DE" sz="2000" b="0" i="0" u="none" strike="noStrike" cap="none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000" b="0" i="0" u="none" strike="noStrike" cap="none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,rec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DE" sz="2000" b="0" i="0" u="none" strike="noStrike" cap="none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000" b="0" i="0" u="none" strike="noStrike" cap="none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,Inv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4F8F24-0806-4E88-8E56-DF2798ADFB4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18027" y="-1548081"/>
            <a:ext cx="10515600" cy="1325563"/>
          </a:xfrm>
        </p:spPr>
        <p:txBody>
          <a:bodyPr/>
          <a:lstStyle/>
          <a:p>
            <a:r>
              <a:rPr lang="en-US" dirty="0"/>
              <a:t>Power Flow</a:t>
            </a:r>
          </a:p>
        </p:txBody>
      </p:sp>
    </p:spTree>
    <p:extLst>
      <p:ext uri="{BB962C8B-B14F-4D97-AF65-F5344CB8AC3E}">
        <p14:creationId xmlns:p14="http://schemas.microsoft.com/office/powerpoint/2010/main" val="2594307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933</TotalTime>
  <Words>614</Words>
  <Application>Microsoft Office PowerPoint</Application>
  <PresentationFormat>Widescreen</PresentationFormat>
  <Paragraphs>126</Paragraphs>
  <Slides>19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Wingdings</vt:lpstr>
      <vt:lpstr>Office Theme</vt:lpstr>
      <vt:lpstr>Equation</vt:lpstr>
      <vt:lpstr>MathType 7.0 Equation</vt:lpstr>
      <vt:lpstr>Module 04</vt:lpstr>
      <vt:lpstr>Converter</vt:lpstr>
      <vt:lpstr>Converter (cont’d)</vt:lpstr>
      <vt:lpstr>Converter Terminology</vt:lpstr>
      <vt:lpstr>Converter output voltage generation</vt:lpstr>
      <vt:lpstr>Converter output voltage generation (cont’d)</vt:lpstr>
      <vt:lpstr>Converter output voltage generation (cont’d)</vt:lpstr>
      <vt:lpstr>PowerPoint Presentation</vt:lpstr>
      <vt:lpstr>2-level VSC-HVDC converters</vt:lpstr>
      <vt:lpstr>2-level and 3-level </vt:lpstr>
      <vt:lpstr>2-level and 3-level (cont’d)</vt:lpstr>
      <vt:lpstr>2-level and 3-level (cont’d)</vt:lpstr>
      <vt:lpstr>3-level VSC-HVDC converters</vt:lpstr>
      <vt:lpstr>4Q Operation</vt:lpstr>
      <vt:lpstr>PQ Operation</vt:lpstr>
      <vt:lpstr>Q versus U operation</vt:lpstr>
      <vt:lpstr>Current flow through the converter</vt:lpstr>
      <vt:lpstr>Point of Definition for Power</vt:lpstr>
      <vt:lpstr>Power 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04</dc:title>
  <dc:creator>Martinec, Timothy J</dc:creator>
  <cp:lastModifiedBy>Starschich, Eugen</cp:lastModifiedBy>
  <cp:revision>7</cp:revision>
  <dcterms:created xsi:type="dcterms:W3CDTF">2023-06-22T15:25:22Z</dcterms:created>
  <dcterms:modified xsi:type="dcterms:W3CDTF">2025-09-26T03:40:55Z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C589C268-8DEE-4D59-8D5A-C35DC686A5A4</vt:lpwstr>
  </property>
  <property fmtid="{D5CDD505-2E9C-101B-9397-08002B2CF9AE}" pid="3" name="ArticulatePath">
    <vt:lpwstr>MGMT-330-01</vt:lpwstr>
  </property>
  <property fmtid="{D5CDD505-2E9C-101B-9397-08002B2CF9AE}" pid="4" name="MSIP_Label_36791f77-3d39-4d72-9277-ac879ec799ed_Enabled">
    <vt:lpwstr>true</vt:lpwstr>
  </property>
  <property fmtid="{D5CDD505-2E9C-101B-9397-08002B2CF9AE}" pid="5" name="MSIP_Label_36791f77-3d39-4d72-9277-ac879ec799ed_SetDate">
    <vt:lpwstr>2025-03-27T22:55:25Z</vt:lpwstr>
  </property>
  <property fmtid="{D5CDD505-2E9C-101B-9397-08002B2CF9AE}" pid="6" name="MSIP_Label_36791f77-3d39-4d72-9277-ac879ec799ed_Method">
    <vt:lpwstr>Standard</vt:lpwstr>
  </property>
  <property fmtid="{D5CDD505-2E9C-101B-9397-08002B2CF9AE}" pid="7" name="MSIP_Label_36791f77-3d39-4d72-9277-ac879ec799ed_Name">
    <vt:lpwstr>restricted-default</vt:lpwstr>
  </property>
  <property fmtid="{D5CDD505-2E9C-101B-9397-08002B2CF9AE}" pid="8" name="MSIP_Label_36791f77-3d39-4d72-9277-ac879ec799ed_SiteId">
    <vt:lpwstr>254ba93e-1f6f-48f3-90e6-e2766664b477</vt:lpwstr>
  </property>
  <property fmtid="{D5CDD505-2E9C-101B-9397-08002B2CF9AE}" pid="9" name="MSIP_Label_36791f77-3d39-4d72-9277-ac879ec799ed_ActionId">
    <vt:lpwstr>b95c3f1c-1a69-4d46-8df3-4f1ad4cb0777</vt:lpwstr>
  </property>
  <property fmtid="{D5CDD505-2E9C-101B-9397-08002B2CF9AE}" pid="10" name="MSIP_Label_36791f77-3d39-4d72-9277-ac879ec799ed_ContentBits">
    <vt:lpwstr>0</vt:lpwstr>
  </property>
  <property fmtid="{D5CDD505-2E9C-101B-9397-08002B2CF9AE}" pid="11" name="MSIP_Label_36791f77-3d39-4d72-9277-ac879ec799ed_Tag">
    <vt:lpwstr>10, 3, 0, 1</vt:lpwstr>
  </property>
</Properties>
</file>