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3" r:id="rId4"/>
    <p:sldId id="287" r:id="rId5"/>
    <p:sldId id="288" r:id="rId6"/>
    <p:sldId id="290" r:id="rId7"/>
    <p:sldId id="291" r:id="rId8"/>
    <p:sldId id="293" r:id="rId9"/>
    <p:sldId id="292" r:id="rId10"/>
    <p:sldId id="296" r:id="rId11"/>
    <p:sldId id="297" r:id="rId12"/>
    <p:sldId id="289" r:id="rId13"/>
    <p:sldId id="282" r:id="rId14"/>
    <p:sldId id="295" r:id="rId15"/>
    <p:sldId id="298" r:id="rId16"/>
    <p:sldId id="299" r:id="rId17"/>
    <p:sldId id="300" r:id="rId18"/>
    <p:sldId id="258" r:id="rId19"/>
    <p:sldId id="281" r:id="rId20"/>
    <p:sldId id="285" r:id="rId21"/>
    <p:sldId id="286" r:id="rId22"/>
    <p:sldId id="284" r:id="rId23"/>
    <p:sldId id="280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+qktsmFGBo0zLgoHKOMLnb4YX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4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379D110-83BB-0786-5994-CE8D85A0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47366DC-2371-A6BE-A69B-6771E8141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6FD271BA-9892-C970-3DB8-10D0C9F9E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560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AA2DEBF-5C2C-DEFA-AA62-65E3C278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43D930F-5260-93F1-53D5-7696677F0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31A32405-3A3E-9749-2B8C-954988B50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7785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EAEE3DD-6FAB-AB67-1F9C-8754AB6B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2F5EA682-EE29-4026-154F-698522BEF7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E1747A7-7DDB-AF1F-B21D-10B7646DD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6987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5CE2B4C-0F7B-59D5-780B-659A82E5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0FE7E73-58EB-6FB6-D609-2283B7783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653C3CF-A3E0-5B1F-972C-5F461CF6D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1052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D78E8618-C521-AEB4-EC2B-22DAA860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0B420AD-64A2-AABB-D2C4-2063F27B8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A99A2647-E2E0-2DF0-0815-A2CCCCC1B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4794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FAC6C02-3B46-F535-2D85-C86DC117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A36BD548-8AF1-6C90-C1E7-1BB2331D1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6AAA33DF-E50E-577A-73FA-60A29EA0A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829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B464B34-2B51-3276-9F93-19263A2D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9CEF0EF-55C0-603A-A4BC-E9413D68A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37B39A6-6F38-D953-833A-1B167E4EB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8914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4C7A914-0A31-DBDB-7DE6-40A718EB9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9008A0E-10BA-CFF6-A244-AC1A784EB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A39A3B98-3537-93A7-7959-154EF12B3F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8442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AC690D5-7CE8-CCB4-4AB8-19F3E25E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0860C5A-4350-EABF-CC60-29570B01E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5573BF5-C1B2-9757-7FB4-E17E1B665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1886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F3B772A1-D225-A352-3033-184FA289F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B5FF054-700E-DBF4-A8CC-057816293E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CF50B52-6965-7A53-D3F0-7C49FBBC98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2704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386B674-D274-E717-0AC2-8CD4C846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20A7043-059C-1FD8-D389-5EA714EDB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36786ED-ABB0-334B-FAEF-2D7AE919E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4336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109DB47-40E5-9AA7-40B3-4ADCB03D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98CDD61C-EE78-0507-C050-78655F2A4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9951A05-D283-0517-3BF3-29E91C4A2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5152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CABD821-05E6-E9C4-74C2-352F20EF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AD8E752-7FDB-3C69-F85E-17F966CDA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7F94280-1EBC-A05F-3AAA-DAC80B187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3255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79684599-3FB8-FAE7-D842-FB366834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88EF2FA-9037-7284-CD42-0B705BC16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86C209F-7442-83B1-4FD0-5E0578339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9478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7D75BC9A-5501-1FCE-2649-F06CDB212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BB6896D-64AD-D8FD-C8FF-8F2AD4AB3A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2FF65D06-9865-4CD1-63F4-B42574C47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2230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4F6D14FE-5CD4-6891-A0AD-515FB2E0C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E9460B3E-4BC6-54FB-86D2-F1729E65D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A4ADDF24-3768-297C-9829-BFD56B5CE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4600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0AD96D3-987B-8222-FA13-ABC7B62A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B2810B18-0D86-8DC6-13DE-428AD7DD60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938C7080-19F5-7FF2-DCD5-397ACAA14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58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CD32C7F-1C10-831B-C704-48035C38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D6287BD9-C267-5D7E-5837-4DC2C780C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B5537BB0-C0AB-0B57-A847-F28ADBFED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27081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FB54B4AA-0BC8-9502-029F-8FC24223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67B81D49-AFEC-94D9-865F-34897B693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C3F028BB-1713-7537-92F6-E733CADB4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4454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050C69E-966D-89D7-81D2-2EDFCF0A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14F15196-C426-4144-3059-74B4A04A91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20C55A31-6478-D57B-7B50-B39F27B3D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14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Example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8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8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24" name="Google Shape;24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8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" name="Google Shape;2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8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ECE 652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0</a:t>
            </a:r>
            <a:r>
              <a:rPr lang="en-DE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D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SC-HVDC components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C4C906-ABD4-6ED0-AED6-0D410673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76" y="1313777"/>
            <a:ext cx="10265239" cy="3666157"/>
          </a:xfrm>
          <a:prstGeom prst="rect">
            <a:avLst/>
          </a:prstGeom>
        </p:spPr>
      </p:pic>
      <p:sp>
        <p:nvSpPr>
          <p:cNvPr id="70" name="Google Shape;70;p2"/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DE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ain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components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4CF360-35DD-4526-17E1-C62A5A30B3EE}"/>
              </a:ext>
            </a:extLst>
          </p:cNvPr>
          <p:cNvSpPr/>
          <p:nvPr/>
        </p:nvSpPr>
        <p:spPr>
          <a:xfrm>
            <a:off x="3177107" y="2795252"/>
            <a:ext cx="847725" cy="5469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03057-B08D-7E36-8082-7F6CE12AEF6D}"/>
              </a:ext>
            </a:extLst>
          </p:cNvPr>
          <p:cNvSpPr/>
          <p:nvPr/>
        </p:nvSpPr>
        <p:spPr>
          <a:xfrm>
            <a:off x="8834957" y="2795251"/>
            <a:ext cx="847725" cy="5469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C11AB0-EBA8-59A3-FB5D-B1A610DE6098}"/>
              </a:ext>
            </a:extLst>
          </p:cNvPr>
          <p:cNvSpPr/>
          <p:nvPr/>
        </p:nvSpPr>
        <p:spPr>
          <a:xfrm>
            <a:off x="363725" y="5712750"/>
            <a:ext cx="529719" cy="1659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opy">
            <a:extLst>
              <a:ext uri="{FF2B5EF4-FFF2-40B4-BE49-F238E27FC236}">
                <a16:creationId xmlns:a16="http://schemas.microsoft.com/office/drawing/2014/main" id="{C3AD41C7-0410-CDC4-CD9D-F2BB888C444E}"/>
              </a:ext>
            </a:extLst>
          </p:cNvPr>
          <p:cNvSpPr txBox="1">
            <a:spLocks/>
          </p:cNvSpPr>
          <p:nvPr/>
        </p:nvSpPr>
        <p:spPr>
          <a:xfrm>
            <a:off x="1125843" y="5643219"/>
            <a:ext cx="2407078" cy="292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dirty="0"/>
              <a:t>Pre-Insertion Resistor (PIR)</a:t>
            </a:r>
          </a:p>
          <a:p>
            <a:pPr lvl="1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0EDE1-FC34-464B-8BEB-563D73AF550E}"/>
              </a:ext>
            </a:extLst>
          </p:cNvPr>
          <p:cNvSpPr/>
          <p:nvPr/>
        </p:nvSpPr>
        <p:spPr>
          <a:xfrm>
            <a:off x="363725" y="5390302"/>
            <a:ext cx="529719" cy="165915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5FB019-D3BF-B7AB-88A3-34ED3657E658}"/>
              </a:ext>
            </a:extLst>
          </p:cNvPr>
          <p:cNvSpPr/>
          <p:nvPr/>
        </p:nvSpPr>
        <p:spPr>
          <a:xfrm>
            <a:off x="2329382" y="2646842"/>
            <a:ext cx="619125" cy="847725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F06E39-59B4-DFE1-C51D-64B387457545}"/>
              </a:ext>
            </a:extLst>
          </p:cNvPr>
          <p:cNvSpPr/>
          <p:nvPr/>
        </p:nvSpPr>
        <p:spPr>
          <a:xfrm>
            <a:off x="8039621" y="2582450"/>
            <a:ext cx="619125" cy="847725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01AFD8-0A90-5BA5-B158-7543D3414303}"/>
              </a:ext>
            </a:extLst>
          </p:cNvPr>
          <p:cNvSpPr/>
          <p:nvPr/>
        </p:nvSpPr>
        <p:spPr>
          <a:xfrm>
            <a:off x="363725" y="6042345"/>
            <a:ext cx="529719" cy="165915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E9DF27-5CDC-CF21-2398-880C56AAC6D6}"/>
              </a:ext>
            </a:extLst>
          </p:cNvPr>
          <p:cNvSpPr/>
          <p:nvPr/>
        </p:nvSpPr>
        <p:spPr>
          <a:xfrm>
            <a:off x="2633560" y="3494567"/>
            <a:ext cx="238748" cy="644242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50F02-C616-57EA-CEA5-9389F709F4D2}"/>
              </a:ext>
            </a:extLst>
          </p:cNvPr>
          <p:cNvSpPr/>
          <p:nvPr/>
        </p:nvSpPr>
        <p:spPr>
          <a:xfrm>
            <a:off x="7624662" y="3149898"/>
            <a:ext cx="238748" cy="644242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E79E1D-81C4-C6A8-6E70-C1B327B89EEE}"/>
              </a:ext>
            </a:extLst>
          </p:cNvPr>
          <p:cNvSpPr/>
          <p:nvPr/>
        </p:nvSpPr>
        <p:spPr>
          <a:xfrm>
            <a:off x="363725" y="6337046"/>
            <a:ext cx="529719" cy="165915"/>
          </a:xfrm>
          <a:prstGeom prst="rect">
            <a:avLst/>
          </a:prstGeom>
          <a:noFill/>
          <a:ln w="12700">
            <a:solidFill>
              <a:srgbClr val="14D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985FB9-24C5-B490-5E12-6FEF3D9A58DA}"/>
              </a:ext>
            </a:extLst>
          </p:cNvPr>
          <p:cNvSpPr/>
          <p:nvPr/>
        </p:nvSpPr>
        <p:spPr>
          <a:xfrm>
            <a:off x="4367732" y="1714503"/>
            <a:ext cx="390526" cy="322739"/>
          </a:xfrm>
          <a:prstGeom prst="rect">
            <a:avLst/>
          </a:prstGeom>
          <a:noFill/>
          <a:ln w="12700">
            <a:solidFill>
              <a:srgbClr val="14D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74BB37-1551-E4BB-1393-F57B9BD416B8}"/>
              </a:ext>
            </a:extLst>
          </p:cNvPr>
          <p:cNvSpPr/>
          <p:nvPr/>
        </p:nvSpPr>
        <p:spPr>
          <a:xfrm>
            <a:off x="6864076" y="1714502"/>
            <a:ext cx="390526" cy="322739"/>
          </a:xfrm>
          <a:prstGeom prst="rect">
            <a:avLst/>
          </a:prstGeom>
          <a:noFill/>
          <a:ln w="12700">
            <a:solidFill>
              <a:srgbClr val="14D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765CE3-445A-B672-04B2-D999E574C110}"/>
              </a:ext>
            </a:extLst>
          </p:cNvPr>
          <p:cNvSpPr/>
          <p:nvPr/>
        </p:nvSpPr>
        <p:spPr>
          <a:xfrm>
            <a:off x="4367732" y="4286252"/>
            <a:ext cx="390526" cy="322739"/>
          </a:xfrm>
          <a:prstGeom prst="rect">
            <a:avLst/>
          </a:prstGeom>
          <a:noFill/>
          <a:ln w="12700">
            <a:solidFill>
              <a:srgbClr val="14D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49B43-463D-0952-E451-689903DDF2A3}"/>
              </a:ext>
            </a:extLst>
          </p:cNvPr>
          <p:cNvSpPr/>
          <p:nvPr/>
        </p:nvSpPr>
        <p:spPr>
          <a:xfrm>
            <a:off x="6864076" y="4286251"/>
            <a:ext cx="390526" cy="322739"/>
          </a:xfrm>
          <a:prstGeom prst="rect">
            <a:avLst/>
          </a:prstGeom>
          <a:noFill/>
          <a:ln w="12700">
            <a:solidFill>
              <a:srgbClr val="14D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C18925-B58A-C320-AAE2-D794871A679E}"/>
              </a:ext>
            </a:extLst>
          </p:cNvPr>
          <p:cNvSpPr/>
          <p:nvPr/>
        </p:nvSpPr>
        <p:spPr>
          <a:xfrm>
            <a:off x="363725" y="5093773"/>
            <a:ext cx="529719" cy="165915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4769DD-C510-C5F7-810F-02D0C3B8C816}"/>
              </a:ext>
            </a:extLst>
          </p:cNvPr>
          <p:cNvSpPr/>
          <p:nvPr/>
        </p:nvSpPr>
        <p:spPr>
          <a:xfrm>
            <a:off x="1400084" y="2849308"/>
            <a:ext cx="367324" cy="398585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648B2A-28C8-B0B7-4246-72D65A01F32A}"/>
              </a:ext>
            </a:extLst>
          </p:cNvPr>
          <p:cNvSpPr/>
          <p:nvPr/>
        </p:nvSpPr>
        <p:spPr>
          <a:xfrm>
            <a:off x="9778302" y="2840114"/>
            <a:ext cx="367324" cy="398585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opy">
            <a:extLst>
              <a:ext uri="{FF2B5EF4-FFF2-40B4-BE49-F238E27FC236}">
                <a16:creationId xmlns:a16="http://schemas.microsoft.com/office/drawing/2014/main" id="{570B7180-144A-C404-9848-43CE4E530709}"/>
              </a:ext>
            </a:extLst>
          </p:cNvPr>
          <p:cNvSpPr txBox="1">
            <a:spLocks/>
          </p:cNvSpPr>
          <p:nvPr/>
        </p:nvSpPr>
        <p:spPr>
          <a:xfrm>
            <a:off x="1125843" y="5030354"/>
            <a:ext cx="2407078" cy="292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 dirty="0"/>
              <a:t>AC circuit breaker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2" name="Copy">
            <a:extLst>
              <a:ext uri="{FF2B5EF4-FFF2-40B4-BE49-F238E27FC236}">
                <a16:creationId xmlns:a16="http://schemas.microsoft.com/office/drawing/2014/main" id="{DB5F0445-5106-92C2-4073-D7B5E3346808}"/>
              </a:ext>
            </a:extLst>
          </p:cNvPr>
          <p:cNvSpPr txBox="1">
            <a:spLocks/>
          </p:cNvSpPr>
          <p:nvPr/>
        </p:nvSpPr>
        <p:spPr>
          <a:xfrm>
            <a:off x="1125843" y="5322287"/>
            <a:ext cx="2407078" cy="292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 dirty="0"/>
              <a:t>Transformer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3" name="Copy">
            <a:extLst>
              <a:ext uri="{FF2B5EF4-FFF2-40B4-BE49-F238E27FC236}">
                <a16:creationId xmlns:a16="http://schemas.microsoft.com/office/drawing/2014/main" id="{7E6617B3-288A-7D51-DDEE-F882E14180C0}"/>
              </a:ext>
            </a:extLst>
          </p:cNvPr>
          <p:cNvSpPr txBox="1">
            <a:spLocks/>
          </p:cNvSpPr>
          <p:nvPr/>
        </p:nvSpPr>
        <p:spPr>
          <a:xfrm>
            <a:off x="1125843" y="5969734"/>
            <a:ext cx="2407078" cy="292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 dirty="0"/>
              <a:t>Star Point Reactor (SPR)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4" name="Copy">
            <a:extLst>
              <a:ext uri="{FF2B5EF4-FFF2-40B4-BE49-F238E27FC236}">
                <a16:creationId xmlns:a16="http://schemas.microsoft.com/office/drawing/2014/main" id="{5DBCE086-2AF1-DC27-A0A4-2F1F9BEDBE4E}"/>
              </a:ext>
            </a:extLst>
          </p:cNvPr>
          <p:cNvSpPr txBox="1">
            <a:spLocks/>
          </p:cNvSpPr>
          <p:nvPr/>
        </p:nvSpPr>
        <p:spPr>
          <a:xfrm>
            <a:off x="1125843" y="6273627"/>
            <a:ext cx="899024" cy="292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 dirty="0"/>
              <a:t>Reactor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5E794A82-255D-ABE3-B1F1-B1B89758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2C3B91D-14BA-714C-1AD8-535EBD2AEE04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circuit breaker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1;p2">
            <a:extLst>
              <a:ext uri="{FF2B5EF4-FFF2-40B4-BE49-F238E27FC236}">
                <a16:creationId xmlns:a16="http://schemas.microsoft.com/office/drawing/2014/main" id="{1638FDAB-1E19-B454-98D7-894A9913150A}"/>
              </a:ext>
            </a:extLst>
          </p:cNvPr>
          <p:cNvSpPr txBox="1"/>
          <p:nvPr/>
        </p:nvSpPr>
        <p:spPr>
          <a:xfrm>
            <a:off x="115900" y="1814608"/>
            <a:ext cx="6722599" cy="468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Their main purpose is to clear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fault that might occur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HVDC system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circuit breaker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 principle:</a:t>
            </a:r>
          </a:p>
          <a:p>
            <a:pPr marL="715963" lvl="3" indent="-355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apidly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separating two contacts surrounded by a liquid or gaseous insulating medium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5963" lvl="3" indent="-355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Arcin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period till the next zero crossing of the current</a:t>
            </a:r>
          </a:p>
          <a:p>
            <a:pPr marL="715963" lvl="3" indent="-355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extinguished as quickly as possible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5963" lvl="3" indent="-355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current interruption, transient recovery voltage(TRV) appears across the open contacts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414C5-0376-7D3C-1FDC-7B15D8905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359" y="1224279"/>
            <a:ext cx="3983321" cy="46724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15FF6-3E37-7A24-BD33-52E9AE432431}"/>
              </a:ext>
            </a:extLst>
          </p:cNvPr>
          <p:cNvSpPr txBox="1"/>
          <p:nvPr/>
        </p:nvSpPr>
        <p:spPr>
          <a:xfrm>
            <a:off x="7596858" y="5950678"/>
            <a:ext cx="39833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High-Voltage Circuit Breakers</a:t>
            </a:r>
            <a:r>
              <a:rPr lang="en-DE" sz="1100" dirty="0"/>
              <a:t> </a:t>
            </a:r>
            <a:r>
              <a:rPr lang="en-US" sz="1100" dirty="0"/>
              <a:t>From 72.5 kV up to 1100 kV</a:t>
            </a:r>
            <a:endParaRPr lang="en-DE" sz="1100" dirty="0"/>
          </a:p>
          <a:p>
            <a:r>
              <a:rPr lang="en-DE" sz="1100" dirty="0"/>
              <a:t>Siemens Energy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6709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F005415-23E6-8F47-21A1-005373F0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F90D7A8C-60EE-212F-E291-A6B4036C177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circuit breaker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1;p2">
            <a:extLst>
              <a:ext uri="{FF2B5EF4-FFF2-40B4-BE49-F238E27FC236}">
                <a16:creationId xmlns:a16="http://schemas.microsoft.com/office/drawing/2014/main" id="{09D451CE-2DA4-2F7F-14BA-264DC858D7E4}"/>
              </a:ext>
            </a:extLst>
          </p:cNvPr>
          <p:cNvSpPr txBox="1"/>
          <p:nvPr/>
        </p:nvSpPr>
        <p:spPr>
          <a:xfrm>
            <a:off x="115900" y="1611408"/>
            <a:ext cx="6722599" cy="64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 type of mechanical set-ups are available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074352-89A5-70E8-CEFE-B1FA2D249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80" y="2865513"/>
            <a:ext cx="4216268" cy="281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219F122-E93F-CBD6-3EBC-37662E49C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682" y="2862038"/>
            <a:ext cx="4216268" cy="281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71;p2">
            <a:extLst>
              <a:ext uri="{FF2B5EF4-FFF2-40B4-BE49-F238E27FC236}">
                <a16:creationId xmlns:a16="http://schemas.microsoft.com/office/drawing/2014/main" id="{1E486F7C-E4E3-6293-305F-319E2A93D060}"/>
              </a:ext>
            </a:extLst>
          </p:cNvPr>
          <p:cNvSpPr txBox="1"/>
          <p:nvPr/>
        </p:nvSpPr>
        <p:spPr>
          <a:xfrm>
            <a:off x="957579" y="2205434"/>
            <a:ext cx="4216269" cy="64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ive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tank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breaker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1;p2">
            <a:extLst>
              <a:ext uri="{FF2B5EF4-FFF2-40B4-BE49-F238E27FC236}">
                <a16:creationId xmlns:a16="http://schemas.microsoft.com/office/drawing/2014/main" id="{661CD6FF-B5EE-6E6E-0EE1-B3C2E4C05C72}"/>
              </a:ext>
            </a:extLst>
          </p:cNvPr>
          <p:cNvSpPr txBox="1"/>
          <p:nvPr/>
        </p:nvSpPr>
        <p:spPr>
          <a:xfrm>
            <a:off x="7194682" y="2205434"/>
            <a:ext cx="4216268" cy="64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Dead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tank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breaker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34278-A58C-E3C0-BF73-ADDE91B57083}"/>
              </a:ext>
            </a:extLst>
          </p:cNvPr>
          <p:cNvSpPr txBox="1"/>
          <p:nvPr/>
        </p:nvSpPr>
        <p:spPr>
          <a:xfrm>
            <a:off x="951362" y="5873000"/>
            <a:ext cx="65416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https://www.siemens-energy.com/global/en/home/products-services/product-offerings/circuit-breakers.html#Vacuuminterruptionprinciple</a:t>
            </a:r>
          </a:p>
        </p:txBody>
      </p:sp>
    </p:spTree>
    <p:extLst>
      <p:ext uri="{BB962C8B-B14F-4D97-AF65-F5344CB8AC3E}">
        <p14:creationId xmlns:p14="http://schemas.microsoft.com/office/powerpoint/2010/main" val="48286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A777D51F-A391-C4B8-6004-C38F91EA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BFAF0BB9-1FE2-CA6D-0851-E83AE879C3F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Pre-Insertion resistor (PIR)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0BFA07E2-FC16-DE9A-2B13-E84FE1B63989}"/>
              </a:ext>
            </a:extLst>
          </p:cNvPr>
          <p:cNvSpPr txBox="1"/>
          <p:nvPr/>
        </p:nvSpPr>
        <p:spPr>
          <a:xfrm>
            <a:off x="115900" y="1814608"/>
            <a:ext cx="6722599" cy="468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Connecting capacitors to the AC grid would cause a high charging current into the converter limited only by the transformer and converter impedance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high current would cause high stress to the AC grid and the converter equipment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limits the current during the energization p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and is bypassed after the energization process has been finished</a:t>
            </a: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27B82-DAE9-B55B-68A0-759D15E05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268" y="2783840"/>
            <a:ext cx="4218354" cy="12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0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E360276A-9370-8B32-61F9-2CC0DC92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26BE3CF1-44D2-445E-50E7-78DE06C27473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BEE259EA-60AA-4231-CBCA-F247BD5217A8}"/>
              </a:ext>
            </a:extLst>
          </p:cNvPr>
          <p:cNvSpPr txBox="1"/>
          <p:nvPr/>
        </p:nvSpPr>
        <p:spPr>
          <a:xfrm>
            <a:off x="115901" y="1814608"/>
            <a:ext cx="7311060" cy="468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rovides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connection between the AC system and the converter 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basic transformer function is the same as a normal AC power transformer: to transform AC voltage between the different voltage levels of the AC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voltage required by the converter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ollowing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design concepts are considered:</a:t>
            </a: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groups</a:t>
            </a: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vs. 3ph</a:t>
            </a: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winding vs. 3 winding</a:t>
            </a: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On-Load Tap changer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large machine with several pipes&#10;&#10;AI-generated content may be incorrect.">
            <a:extLst>
              <a:ext uri="{FF2B5EF4-FFF2-40B4-BE49-F238E27FC236}">
                <a16:creationId xmlns:a16="http://schemas.microsoft.com/office/drawing/2014/main" id="{2881A4A6-2564-821C-6B45-086E8E300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52" r="14236"/>
          <a:stretch/>
        </p:blipFill>
        <p:spPr>
          <a:xfrm>
            <a:off x="7594600" y="1814608"/>
            <a:ext cx="3845560" cy="3291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F4DD2E-A028-E0E7-6C2F-52D43D7064F1}"/>
              </a:ext>
            </a:extLst>
          </p:cNvPr>
          <p:cNvSpPr txBox="1"/>
          <p:nvPr/>
        </p:nvSpPr>
        <p:spPr>
          <a:xfrm>
            <a:off x="7213600" y="5212298"/>
            <a:ext cx="4978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https://www.siemens-energy.com/global/en/home/products-services/product/hvdc-transformers.html</a:t>
            </a:r>
          </a:p>
        </p:txBody>
      </p:sp>
    </p:spTree>
    <p:extLst>
      <p:ext uri="{BB962C8B-B14F-4D97-AF65-F5344CB8AC3E}">
        <p14:creationId xmlns:p14="http://schemas.microsoft.com/office/powerpoint/2010/main" val="245429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4E145C06-2D87-009D-0179-483166611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E3ADBD9-4C5A-4B8D-24A8-602421E76675}"/>
              </a:ext>
            </a:extLst>
          </p:cNvPr>
          <p:cNvSpPr txBox="1"/>
          <p:nvPr/>
        </p:nvSpPr>
        <p:spPr>
          <a:xfrm>
            <a:off x="115900" y="985000"/>
            <a:ext cx="715866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transformer – Vector groups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8CC9F-D53C-9B7F-8B95-6A2B9BBBF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69" y="2636837"/>
            <a:ext cx="4052423" cy="1584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9E0731-02D4-11F4-1F3F-C0F44DB6B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910" y="1920240"/>
            <a:ext cx="4047342" cy="2497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2E2725-27F0-AB50-9132-667E096BD6C2}"/>
              </a:ext>
            </a:extLst>
          </p:cNvPr>
          <p:cNvSpPr txBox="1"/>
          <p:nvPr/>
        </p:nvSpPr>
        <p:spPr>
          <a:xfrm>
            <a:off x="860588" y="5804876"/>
            <a:ext cx="4052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/>
              <a:t>Yd - Transformer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05B16-B426-71DC-EF54-F071285760F6}"/>
              </a:ext>
            </a:extLst>
          </p:cNvPr>
          <p:cNvSpPr txBox="1"/>
          <p:nvPr/>
        </p:nvSpPr>
        <p:spPr>
          <a:xfrm>
            <a:off x="6976910" y="5804876"/>
            <a:ext cx="4047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 err="1"/>
              <a:t>Yy</a:t>
            </a:r>
            <a:r>
              <a:rPr lang="en-DE" b="1" dirty="0"/>
              <a:t> - Transformer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705156-F56C-A943-D961-D51F793BE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20" y="4951824"/>
            <a:ext cx="4173691" cy="496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EA9AB5-3EF1-A388-0347-472B33FF1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628" y="4634213"/>
            <a:ext cx="4226641" cy="81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26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1EE01D2-31F1-2D54-2F7D-ECF9C2B6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952858F-C6EA-0309-29EF-3A18E4BE7D8C}"/>
              </a:ext>
            </a:extLst>
          </p:cNvPr>
          <p:cNvSpPr txBox="1"/>
          <p:nvPr/>
        </p:nvSpPr>
        <p:spPr>
          <a:xfrm>
            <a:off x="115900" y="984999"/>
            <a:ext cx="7692060" cy="71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transformer – 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winding vs. 3 winding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6C8768-72AA-7B1A-6664-6886FCD7E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910" y="1920240"/>
            <a:ext cx="4047342" cy="2497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D251D8-8370-05D2-D517-53E268A9942E}"/>
              </a:ext>
            </a:extLst>
          </p:cNvPr>
          <p:cNvSpPr txBox="1"/>
          <p:nvPr/>
        </p:nvSpPr>
        <p:spPr>
          <a:xfrm>
            <a:off x="859937" y="6307796"/>
            <a:ext cx="4052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/>
              <a:t>Yd - Transformer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37E9D-9768-87D5-7E06-0BB80E493E9F}"/>
              </a:ext>
            </a:extLst>
          </p:cNvPr>
          <p:cNvSpPr txBox="1"/>
          <p:nvPr/>
        </p:nvSpPr>
        <p:spPr>
          <a:xfrm>
            <a:off x="6976910" y="6307795"/>
            <a:ext cx="4047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 err="1"/>
              <a:t>Yy</a:t>
            </a:r>
            <a:r>
              <a:rPr lang="en-DE" b="1" dirty="0"/>
              <a:t> - Transformer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08C21B-223A-F54D-84BE-DA32927B3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0" y="5209024"/>
            <a:ext cx="4226641" cy="8141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10EE07-7E7A-FE08-FD60-C4DA91A8D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671" y="1853794"/>
            <a:ext cx="3874689" cy="2555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170F4-4034-AD1E-0BF2-63B514E78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71" y="4634213"/>
            <a:ext cx="4457454" cy="13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5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870AEAFF-727B-E235-23CD-C4B87801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39EF36ED-A115-E057-30E7-913D264E0C7A}"/>
              </a:ext>
            </a:extLst>
          </p:cNvPr>
          <p:cNvSpPr txBox="1"/>
          <p:nvPr/>
        </p:nvSpPr>
        <p:spPr>
          <a:xfrm>
            <a:off x="115900" y="985000"/>
            <a:ext cx="715866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transformer –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DE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vs. 3ph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C895F-BD5E-41A9-390A-FBFFACAFE2BE}"/>
              </a:ext>
            </a:extLst>
          </p:cNvPr>
          <p:cNvSpPr txBox="1"/>
          <p:nvPr/>
        </p:nvSpPr>
        <p:spPr>
          <a:xfrm>
            <a:off x="860588" y="5804876"/>
            <a:ext cx="4052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/>
              <a:t>1ph - Transformer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54699-24F1-4AC4-F495-0B4DB2838AED}"/>
              </a:ext>
            </a:extLst>
          </p:cNvPr>
          <p:cNvSpPr txBox="1"/>
          <p:nvPr/>
        </p:nvSpPr>
        <p:spPr>
          <a:xfrm>
            <a:off x="6976910" y="5804876"/>
            <a:ext cx="4047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/>
              <a:t>3ph - Transformer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2C4F33-A4FA-1284-AB25-53EA0BE21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97" y="2324614"/>
            <a:ext cx="3303103" cy="2208771"/>
          </a:xfrm>
          <a:prstGeom prst="rect">
            <a:avLst/>
          </a:prstGeom>
        </p:spPr>
      </p:pic>
      <p:pic>
        <p:nvPicPr>
          <p:cNvPr id="10" name="Picture 9" descr="A large machine with several pipes&#10;&#10;AI-generated content may be incorrect.">
            <a:extLst>
              <a:ext uri="{FF2B5EF4-FFF2-40B4-BE49-F238E27FC236}">
                <a16:creationId xmlns:a16="http://schemas.microsoft.com/office/drawing/2014/main" id="{C5DB68D9-9895-55F2-C590-0A57DA4A7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52" r="14236"/>
          <a:stretch/>
        </p:blipFill>
        <p:spPr>
          <a:xfrm>
            <a:off x="1394313" y="2279808"/>
            <a:ext cx="2984972" cy="255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88A4BC1F-DF99-33F7-82F0-E1EEDAE6E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11889EAF-5584-60E2-56C2-790208768CAA}"/>
              </a:ext>
            </a:extLst>
          </p:cNvPr>
          <p:cNvSpPr txBox="1"/>
          <p:nvPr/>
        </p:nvSpPr>
        <p:spPr>
          <a:xfrm>
            <a:off x="115900" y="985000"/>
            <a:ext cx="715866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transformer –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DE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vs. 3ph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A9CD5-3F85-E348-3028-5312D541D863}"/>
              </a:ext>
            </a:extLst>
          </p:cNvPr>
          <p:cNvSpPr txBox="1"/>
          <p:nvPr/>
        </p:nvSpPr>
        <p:spPr>
          <a:xfrm>
            <a:off x="457200" y="5804875"/>
            <a:ext cx="563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/>
              <a:t>1ph - Transformer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3C535-0A9E-CAA5-3365-8BC1374B6F13}"/>
              </a:ext>
            </a:extLst>
          </p:cNvPr>
          <p:cNvSpPr txBox="1"/>
          <p:nvPr/>
        </p:nvSpPr>
        <p:spPr>
          <a:xfrm>
            <a:off x="7369476" y="5804876"/>
            <a:ext cx="4162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/>
              <a:t>3ph - Transformer</a:t>
            </a:r>
            <a:endParaRPr lang="en-US" b="1" dirty="0"/>
          </a:p>
        </p:txBody>
      </p:sp>
      <p:pic>
        <p:nvPicPr>
          <p:cNvPr id="3" name="Picture 2" descr="A large building with a windmill in the background&#10;&#10;AI-generated content may be incorrect.">
            <a:extLst>
              <a:ext uri="{FF2B5EF4-FFF2-40B4-BE49-F238E27FC236}">
                <a16:creationId xmlns:a16="http://schemas.microsoft.com/office/drawing/2014/main" id="{B5CAE954-EB6D-1D5F-F7C2-17FE706374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72" t="19743" r="17827" b="12820"/>
          <a:stretch/>
        </p:blipFill>
        <p:spPr>
          <a:xfrm>
            <a:off x="457200" y="1833880"/>
            <a:ext cx="5638800" cy="3792850"/>
          </a:xfrm>
          <a:prstGeom prst="rect">
            <a:avLst/>
          </a:prstGeom>
        </p:spPr>
      </p:pic>
      <p:pic>
        <p:nvPicPr>
          <p:cNvPr id="4" name="Picture 3" descr="A large field with windmills in the background&#10;&#10;Description automatically generated">
            <a:extLst>
              <a:ext uri="{FF2B5EF4-FFF2-40B4-BE49-F238E27FC236}">
                <a16:creationId xmlns:a16="http://schemas.microsoft.com/office/drawing/2014/main" id="{0961D9D0-1A30-4B2D-D8FF-E569075CF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632" r="48564" b="19151"/>
          <a:stretch/>
        </p:blipFill>
        <p:spPr>
          <a:xfrm>
            <a:off x="7369477" y="1833880"/>
            <a:ext cx="4162123" cy="378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79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EC36FFB-DFA6-6A58-ECBB-FD2DFDF9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1F2B7E46-5F98-6348-4714-39D98BD04F47}"/>
              </a:ext>
            </a:extLst>
          </p:cNvPr>
          <p:cNvSpPr txBox="1"/>
          <p:nvPr/>
        </p:nvSpPr>
        <p:spPr>
          <a:xfrm>
            <a:off x="115900" y="985000"/>
            <a:ext cx="715866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transformer –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ransportation</a:t>
            </a:r>
            <a:endParaRPr lang="en-DE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arge ship in the water with a statue of liberty&#10;&#10;Description automatically generated">
            <a:extLst>
              <a:ext uri="{FF2B5EF4-FFF2-40B4-BE49-F238E27FC236}">
                <a16:creationId xmlns:a16="http://schemas.microsoft.com/office/drawing/2014/main" id="{61780E34-6167-206C-2A52-903F28E7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85" y="1932322"/>
            <a:ext cx="5695215" cy="3203558"/>
          </a:xfrm>
          <a:prstGeom prst="rect">
            <a:avLst/>
          </a:prstGeom>
        </p:spPr>
      </p:pic>
      <p:pic>
        <p:nvPicPr>
          <p:cNvPr id="6" name="Picture 5" descr="A cargo train on the tracks&#10;&#10;AI-generated content may be incorrect.">
            <a:extLst>
              <a:ext uri="{FF2B5EF4-FFF2-40B4-BE49-F238E27FC236}">
                <a16:creationId xmlns:a16="http://schemas.microsoft.com/office/drawing/2014/main" id="{5B160857-9BF4-4540-E992-B2F7B2A0F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815" y="1932322"/>
            <a:ext cx="5708596" cy="320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49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2DA3AD3-EE20-E0A8-FD75-0C8A2772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3F436C4B-EABF-FCDE-B3A8-3CAB69EF2845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On-Load Tap Changer (OLTC)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3AAC6CF3-E073-1A86-F9C8-927AC096806B}"/>
              </a:ext>
            </a:extLst>
          </p:cNvPr>
          <p:cNvSpPr txBox="1"/>
          <p:nvPr/>
        </p:nvSpPr>
        <p:spPr>
          <a:xfrm>
            <a:off x="115901" y="1814608"/>
            <a:ext cx="6452540" cy="468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echanical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switching device that changes the turns-ratio of the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voltage steps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tapchanger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 adds or subtracts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1 -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1.25% to the converter transformer turns ratio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maximum number of steps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tapchanger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usually around 32, giving a maximum achievable voltage change of around 40%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Tapchanger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mechanical device with limited operation speed and can not be used for dynamic control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E77A1-3C18-6873-1BD2-293D4213528D}"/>
              </a:ext>
            </a:extLst>
          </p:cNvPr>
          <p:cNvSpPr txBox="1"/>
          <p:nvPr/>
        </p:nvSpPr>
        <p:spPr>
          <a:xfrm>
            <a:off x="6784581" y="5657556"/>
            <a:ext cx="53667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Transmission Systems: Line Commutated Converters. © GE Vernova, 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D18D0-5AD7-7B8E-29CD-7F4A03265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101" y="1404118"/>
            <a:ext cx="3263659" cy="404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9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E0D2D5A-4E6D-1C98-8388-E58465B5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982DCB5D-8811-C209-BC47-90D18CB0AE8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On-Load Tap Changer (OLTC)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EF631-2D60-42B5-CC0F-E2DA6AD48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360" y="1718330"/>
            <a:ext cx="5605280" cy="42785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863DF7-7CB9-E70B-4735-CC0B43991AF2}"/>
              </a:ext>
            </a:extLst>
          </p:cNvPr>
          <p:cNvSpPr txBox="1"/>
          <p:nvPr/>
        </p:nvSpPr>
        <p:spPr>
          <a:xfrm>
            <a:off x="3293360" y="6192894"/>
            <a:ext cx="53667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6.4.3e  – Line side cleat bar for 3-phase, 2-winding transformer, star connection Transmission Systems: Line Commutated Converters. © GE Vernova, 2023</a:t>
            </a:r>
          </a:p>
        </p:txBody>
      </p:sp>
    </p:spTree>
    <p:extLst>
      <p:ext uri="{BB962C8B-B14F-4D97-AF65-F5344CB8AC3E}">
        <p14:creationId xmlns:p14="http://schemas.microsoft.com/office/powerpoint/2010/main" val="301909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4A77F2D0-23C7-2319-9FA1-B35600A2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BC4EC20-509F-8086-F59A-00BDEB62F0B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reactor</a:t>
            </a:r>
            <a:endParaRPr lang="en-DE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A1738D3F-D487-F4EA-4522-A5380A44BBA2}"/>
              </a:ext>
            </a:extLst>
          </p:cNvPr>
          <p:cNvSpPr txBox="1"/>
          <p:nvPr/>
        </p:nvSpPr>
        <p:spPr>
          <a:xfrm>
            <a:off x="115901" y="1814608"/>
            <a:ext cx="6452540" cy="468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Decoupling of phases and limitation of short circuit currents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Air-Core Dry-Type Reactors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not utilize an oil insulation system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not need auxiliary equipment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ormally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cooled by natural air ﬂow (convection and radiation cooling)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insulation to ground is provided by porcelain or composite post insulators</a:t>
            </a: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6BA1E-257F-4DB5-2BD4-29999194D1DA}"/>
              </a:ext>
            </a:extLst>
          </p:cNvPr>
          <p:cNvSpPr txBox="1"/>
          <p:nvPr/>
        </p:nvSpPr>
        <p:spPr>
          <a:xfrm>
            <a:off x="6784581" y="5657556"/>
            <a:ext cx="53667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CIGRE. High Voltage DC Transmission Systems</a:t>
            </a:r>
            <a:endParaRPr lang="en-DE" sz="1100" dirty="0"/>
          </a:p>
          <a:p>
            <a:r>
              <a:rPr lang="en-US" sz="1100" dirty="0"/>
              <a:t>Reactors for LCC and VSC HVDC Converter Stations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96897-56AC-0671-9AA1-EA2777437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836" y="985000"/>
            <a:ext cx="4150887" cy="45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79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170992C5-8447-AAA3-6BC6-A441F526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5E6A6209-2AD4-C1D1-C533-7BCAA74A5FD2}"/>
              </a:ext>
            </a:extLst>
          </p:cNvPr>
          <p:cNvSpPr txBox="1"/>
          <p:nvPr/>
        </p:nvSpPr>
        <p:spPr>
          <a:xfrm>
            <a:off x="115900" y="985000"/>
            <a:ext cx="715866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ransformer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load flow calculation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2E68E-5B19-97CE-A804-F34953A8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03" y="1994366"/>
            <a:ext cx="7354594" cy="1962255"/>
          </a:xfrm>
          <a:prstGeom prst="rect">
            <a:avLst/>
          </a:prstGeom>
        </p:spPr>
      </p:pic>
      <p:sp>
        <p:nvSpPr>
          <p:cNvPr id="4" name="Google Shape;71;p2">
            <a:extLst>
              <a:ext uri="{FF2B5EF4-FFF2-40B4-BE49-F238E27FC236}">
                <a16:creationId xmlns:a16="http://schemas.microsoft.com/office/drawing/2014/main" id="{60484E18-DFFC-A0B7-43D3-539871769016}"/>
              </a:ext>
            </a:extLst>
          </p:cNvPr>
          <p:cNvSpPr txBox="1"/>
          <p:nvPr/>
        </p:nvSpPr>
        <p:spPr>
          <a:xfrm>
            <a:off x="185239" y="4428687"/>
            <a:ext cx="8573066" cy="211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power rating for network winding (NW) and converter winding (CW) rating are similar for the VSC-HVDC transformers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inductance is very high and can be neglected for load flow calculations</a:t>
            </a: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60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E6F2BB66-1DBF-95B9-E55C-5EACFE48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A26A63D9-76BA-5D51-E67A-1C5AEEF4FA1A}"/>
              </a:ext>
            </a:extLst>
          </p:cNvPr>
          <p:cNvSpPr txBox="1"/>
          <p:nvPr/>
        </p:nvSpPr>
        <p:spPr>
          <a:xfrm>
            <a:off x="115900" y="985000"/>
            <a:ext cx="715866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ransformer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load flow calculation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1;p2">
            <a:extLst>
              <a:ext uri="{FF2B5EF4-FFF2-40B4-BE49-F238E27FC236}">
                <a16:creationId xmlns:a16="http://schemas.microsoft.com/office/drawing/2014/main" id="{DC578F5E-BB8E-8DE5-67AD-9DB1EE732DE8}"/>
              </a:ext>
            </a:extLst>
          </p:cNvPr>
          <p:cNvSpPr txBox="1"/>
          <p:nvPr/>
        </p:nvSpPr>
        <p:spPr>
          <a:xfrm>
            <a:off x="185239" y="4428687"/>
            <a:ext cx="4583203" cy="211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load flow calculations the transformers can be represented with T-model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Calculation is based on the Two-port 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ion of the transformer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B253D-0ECE-4B90-990E-6000EF0C0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59" y="2120130"/>
            <a:ext cx="4615654" cy="2155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E4E05F-27F9-5924-E194-A82FEE0BD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07" y="1934362"/>
            <a:ext cx="3768752" cy="746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33E76-478D-044E-7AEF-D10FCDB2F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559" y="3429000"/>
            <a:ext cx="3197248" cy="29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32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54EE5C58-29FD-CCEE-4043-9EE92E64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633C2C3-6F78-8247-6226-53363DCEA05D}"/>
              </a:ext>
            </a:extLst>
          </p:cNvPr>
          <p:cNvSpPr txBox="1"/>
          <p:nvPr/>
        </p:nvSpPr>
        <p:spPr>
          <a:xfrm>
            <a:off x="115900" y="985000"/>
            <a:ext cx="715866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459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ransformer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load flow calculation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1;p2">
            <a:extLst>
              <a:ext uri="{FF2B5EF4-FFF2-40B4-BE49-F238E27FC236}">
                <a16:creationId xmlns:a16="http://schemas.microsoft.com/office/drawing/2014/main" id="{75A7EE2B-A297-ADB1-2E8A-2E4921D02B79}"/>
              </a:ext>
            </a:extLst>
          </p:cNvPr>
          <p:cNvSpPr txBox="1"/>
          <p:nvPr/>
        </p:nvSpPr>
        <p:spPr>
          <a:xfrm>
            <a:off x="328402" y="1477668"/>
            <a:ext cx="6003125" cy="342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 is defined by following parameters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	Frequency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DE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Transformer rating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D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NW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winding voltage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D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winding voltage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D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load losses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Copper losses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sequence leakage reactance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40296C-7178-92B7-F02A-2AFC2BCBB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515" y="2059691"/>
            <a:ext cx="2565418" cy="654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94FEE5-805A-2F2B-D44E-C058E36E2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515" y="2810176"/>
            <a:ext cx="2384442" cy="8064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9D61E8-1983-DA6B-E738-A2E13A5AE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903" y="3809494"/>
            <a:ext cx="2041540" cy="676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2A1825-DD34-8D0B-BAD9-FD5EF24A9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903" y="4678636"/>
            <a:ext cx="2270142" cy="7207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050930-8960-9EC3-A3D5-4C69A47A16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515" y="5647023"/>
            <a:ext cx="1108084" cy="64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68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Measuring Scheme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4AB459-25B4-1C57-459D-D56282003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58" y="1506713"/>
            <a:ext cx="6390701" cy="43662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BA6225-530A-6045-508E-D24A02DD40FE}"/>
              </a:ext>
            </a:extLst>
          </p:cNvPr>
          <p:cNvSpPr txBox="1"/>
          <p:nvPr/>
        </p:nvSpPr>
        <p:spPr>
          <a:xfrm>
            <a:off x="2856052" y="6097998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CIGRÉ 832: Guide for Electromagnetic Transient Studies </a:t>
            </a:r>
            <a:r>
              <a:rPr lang="en-US" sz="1100" dirty="0" err="1"/>
              <a:t>Invo</a:t>
            </a:r>
            <a:r>
              <a:rPr lang="en-DE" sz="1100" dirty="0"/>
              <a:t>l</a:t>
            </a:r>
            <a:r>
              <a:rPr lang="en-US" sz="1100" dirty="0" err="1"/>
              <a:t>ving</a:t>
            </a:r>
            <a:r>
              <a:rPr lang="en-US" sz="1100" dirty="0"/>
              <a:t> VSC Converters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84DFB-D5D5-7062-FAA3-2366A83FD95A}"/>
              </a:ext>
            </a:extLst>
          </p:cNvPr>
          <p:cNvSpPr/>
          <p:nvPr/>
        </p:nvSpPr>
        <p:spPr>
          <a:xfrm>
            <a:off x="7466150" y="1878017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BF22C-1F55-03D7-60E0-42294D1E18C3}"/>
              </a:ext>
            </a:extLst>
          </p:cNvPr>
          <p:cNvSpPr/>
          <p:nvPr/>
        </p:nvSpPr>
        <p:spPr>
          <a:xfrm>
            <a:off x="7466150" y="4891092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9E058-2D63-CD80-3AB3-83748844AEF2}"/>
              </a:ext>
            </a:extLst>
          </p:cNvPr>
          <p:cNvSpPr/>
          <p:nvPr/>
        </p:nvSpPr>
        <p:spPr>
          <a:xfrm>
            <a:off x="6624775" y="4906967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B23FF-06F3-9D43-E6E2-64E87DF5AB78}"/>
              </a:ext>
            </a:extLst>
          </p:cNvPr>
          <p:cNvSpPr/>
          <p:nvPr/>
        </p:nvSpPr>
        <p:spPr>
          <a:xfrm>
            <a:off x="6577150" y="1887542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40F73C-73AB-AAC2-8627-51DBD28AC29C}"/>
              </a:ext>
            </a:extLst>
          </p:cNvPr>
          <p:cNvSpPr/>
          <p:nvPr/>
        </p:nvSpPr>
        <p:spPr>
          <a:xfrm>
            <a:off x="5602425" y="3325817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968751-89D5-49C1-3130-77A9E8A2C171}"/>
              </a:ext>
            </a:extLst>
          </p:cNvPr>
          <p:cNvSpPr/>
          <p:nvPr/>
        </p:nvSpPr>
        <p:spPr>
          <a:xfrm>
            <a:off x="4805500" y="3332167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09E1A-BD55-1276-E58F-257DC7A40790}"/>
              </a:ext>
            </a:extLst>
          </p:cNvPr>
          <p:cNvSpPr/>
          <p:nvPr/>
        </p:nvSpPr>
        <p:spPr>
          <a:xfrm>
            <a:off x="3738700" y="3335342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901693-CACC-1406-02D4-8CE36EB6FC68}"/>
              </a:ext>
            </a:extLst>
          </p:cNvPr>
          <p:cNvSpPr/>
          <p:nvPr/>
        </p:nvSpPr>
        <p:spPr>
          <a:xfrm>
            <a:off x="4272100" y="3932242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B9EE4-2996-FFF6-8B03-B8530B02A8F8}"/>
              </a:ext>
            </a:extLst>
          </p:cNvPr>
          <p:cNvSpPr/>
          <p:nvPr/>
        </p:nvSpPr>
        <p:spPr>
          <a:xfrm>
            <a:off x="2968035" y="3323065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4BA571-92E7-DA6A-2864-9DCB9B898BAC}"/>
              </a:ext>
            </a:extLst>
          </p:cNvPr>
          <p:cNvSpPr/>
          <p:nvPr/>
        </p:nvSpPr>
        <p:spPr>
          <a:xfrm>
            <a:off x="333916" y="1755009"/>
            <a:ext cx="212349" cy="2619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73EF3-55E6-F5B2-7533-FF59809E6A83}"/>
              </a:ext>
            </a:extLst>
          </p:cNvPr>
          <p:cNvSpPr txBox="1"/>
          <p:nvPr/>
        </p:nvSpPr>
        <p:spPr>
          <a:xfrm>
            <a:off x="587324" y="1747376"/>
            <a:ext cx="16965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</a:t>
            </a:r>
            <a:r>
              <a:rPr lang="en-DE" sz="1100" dirty="0" err="1"/>
              <a:t>urrent</a:t>
            </a:r>
            <a:r>
              <a:rPr lang="en-DE" sz="1100" dirty="0"/>
              <a:t> measurement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FDB6F-422E-97EF-836C-EFEFDB41F523}"/>
              </a:ext>
            </a:extLst>
          </p:cNvPr>
          <p:cNvSpPr/>
          <p:nvPr/>
        </p:nvSpPr>
        <p:spPr>
          <a:xfrm>
            <a:off x="338974" y="2111092"/>
            <a:ext cx="212349" cy="26193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BD4A89-9951-B67A-DCB2-11C075F2506B}"/>
              </a:ext>
            </a:extLst>
          </p:cNvPr>
          <p:cNvSpPr txBox="1"/>
          <p:nvPr/>
        </p:nvSpPr>
        <p:spPr>
          <a:xfrm>
            <a:off x="592382" y="2103459"/>
            <a:ext cx="16965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100" dirty="0"/>
              <a:t>Voltage measurement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55059D-BD33-8774-6604-FC03643716F8}"/>
              </a:ext>
            </a:extLst>
          </p:cNvPr>
          <p:cNvSpPr/>
          <p:nvPr/>
        </p:nvSpPr>
        <p:spPr>
          <a:xfrm>
            <a:off x="3141146" y="3566533"/>
            <a:ext cx="212349" cy="26193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B295E-C3A2-4487-B7AD-7730D91B3785}"/>
              </a:ext>
            </a:extLst>
          </p:cNvPr>
          <p:cNvSpPr/>
          <p:nvPr/>
        </p:nvSpPr>
        <p:spPr>
          <a:xfrm>
            <a:off x="3449560" y="3580258"/>
            <a:ext cx="212349" cy="26193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4B4A62-33C3-7174-59B8-39EE48B9D571}"/>
              </a:ext>
            </a:extLst>
          </p:cNvPr>
          <p:cNvSpPr/>
          <p:nvPr/>
        </p:nvSpPr>
        <p:spPr>
          <a:xfrm>
            <a:off x="5291351" y="3571584"/>
            <a:ext cx="212349" cy="26193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5D0D63-8268-5FCA-D6BC-39A18B435C95}"/>
              </a:ext>
            </a:extLst>
          </p:cNvPr>
          <p:cNvSpPr/>
          <p:nvPr/>
        </p:nvSpPr>
        <p:spPr>
          <a:xfrm>
            <a:off x="7371483" y="5162036"/>
            <a:ext cx="212349" cy="26193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F4AEBF-27EF-768B-5FDD-BC08056A5D74}"/>
              </a:ext>
            </a:extLst>
          </p:cNvPr>
          <p:cNvSpPr/>
          <p:nvPr/>
        </p:nvSpPr>
        <p:spPr>
          <a:xfrm>
            <a:off x="7328868" y="2129223"/>
            <a:ext cx="212349" cy="26193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C263E251-9B1C-CEFA-7C17-E5162C17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602A1BC1-E04D-44CB-9C52-75FB6CEE1B57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Measuring Transducers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>
            <a:extLst>
              <a:ext uri="{FF2B5EF4-FFF2-40B4-BE49-F238E27FC236}">
                <a16:creationId xmlns:a16="http://schemas.microsoft.com/office/drawing/2014/main" id="{AE61ED05-5B01-C598-1DC3-D884724D8804}"/>
              </a:ext>
            </a:extLst>
          </p:cNvPr>
          <p:cNvSpPr txBox="1"/>
          <p:nvPr/>
        </p:nvSpPr>
        <p:spPr>
          <a:xfrm>
            <a:off x="115900" y="1814606"/>
            <a:ext cx="8386720" cy="4512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easure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analog signals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voltage and current signals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required for monitoring and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of the HVDC system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measurement devices are located in the HV plant itself and usually convert the measured signal to a level and form suitable for subsequent processing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(&lt; 5A, &lt;10V)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major scaling of the measured signal is usually implemented on the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measurement device itself 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1" indent="-2730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associated equipment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measurement transducers of electrical (galvanic) isolation between the raw HV signals and the electrically clean environment of the control cubicles</a:t>
            </a:r>
            <a:endParaRPr lang="en-US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9019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6B36B9DB-1429-2ACD-2291-0A5CBFEB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3C88C9D7-0A12-C181-8B9F-5AFEC155882C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Measurement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>
            <a:extLst>
              <a:ext uri="{FF2B5EF4-FFF2-40B4-BE49-F238E27FC236}">
                <a16:creationId xmlns:a16="http://schemas.microsoft.com/office/drawing/2014/main" id="{AB7E2D6D-1723-7F3E-7CB5-76E42AFC1B50}"/>
              </a:ext>
            </a:extLst>
          </p:cNvPr>
          <p:cNvSpPr txBox="1"/>
          <p:nvPr/>
        </p:nvSpPr>
        <p:spPr>
          <a:xfrm>
            <a:off x="115900" y="1814606"/>
            <a:ext cx="5406060" cy="174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voltage measurement can be done by:</a:t>
            </a:r>
          </a:p>
          <a:p>
            <a:pPr marL="5715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Inductive 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Voltage Transformer 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Capacitor Voltage Transformer (CVT)</a:t>
            </a:r>
          </a:p>
          <a:p>
            <a:pPr marL="5143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68FDF-106B-1CC9-37D1-73A14605A9CE}"/>
              </a:ext>
            </a:extLst>
          </p:cNvPr>
          <p:cNvSpPr txBox="1"/>
          <p:nvPr/>
        </p:nvSpPr>
        <p:spPr>
          <a:xfrm>
            <a:off x="6096000" y="6097998"/>
            <a:ext cx="5569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Fig. 6.6.3a  – Typical line diagram of a capacitor voltage transformer </a:t>
            </a:r>
            <a:endParaRPr lang="en-DE" sz="1100" dirty="0"/>
          </a:p>
          <a:p>
            <a:r>
              <a:rPr lang="en-US" sz="1100" dirty="0"/>
              <a:t>DC Transmission Systems: Line Commutated Converters. © GE Vernova, 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42563-22B1-35FC-3DB9-060482098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25" y="1814606"/>
            <a:ext cx="4622766" cy="423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78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2DC2B401-6FC5-C33D-BF0B-04D2DDE2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6B25F44C-5726-3EDE-7018-50218CC58ED8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Measurement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>
            <a:extLst>
              <a:ext uri="{FF2B5EF4-FFF2-40B4-BE49-F238E27FC236}">
                <a16:creationId xmlns:a16="http://schemas.microsoft.com/office/drawing/2014/main" id="{B7FE653A-8318-85B3-FC1D-289A33F21006}"/>
              </a:ext>
            </a:extLst>
          </p:cNvPr>
          <p:cNvSpPr txBox="1"/>
          <p:nvPr/>
        </p:nvSpPr>
        <p:spPr>
          <a:xfrm>
            <a:off x="115900" y="1814606"/>
            <a:ext cx="7458380" cy="367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current transformer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Measuring principle can be used for AC current measurements only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insulators can be used:</a:t>
            </a:r>
          </a:p>
          <a:p>
            <a:pPr marL="5715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SF6</a:t>
            </a:r>
          </a:p>
          <a:p>
            <a:pPr marL="571500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“Clean Air”</a:t>
            </a:r>
          </a:p>
          <a:p>
            <a:pPr marL="571500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ack the capability to measure currents at low frequencies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(&lt; 5Hz)</a:t>
            </a:r>
            <a:endParaRPr lang="en-US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4085A-6D75-E586-69B4-5AB84A8D4756}"/>
              </a:ext>
            </a:extLst>
          </p:cNvPr>
          <p:cNvSpPr txBox="1"/>
          <p:nvPr/>
        </p:nvSpPr>
        <p:spPr>
          <a:xfrm>
            <a:off x="7422342" y="6215390"/>
            <a:ext cx="41346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https://trench-group.com/wp-content/uploads/2024/01/Clean-Air-Current_preview.jpg</a:t>
            </a:r>
          </a:p>
        </p:txBody>
      </p:sp>
      <p:pic>
        <p:nvPicPr>
          <p:cNvPr id="9" name="Picture 8" descr="A blue and silver cylinder with a round cylinder&#10;&#10;AI-generated content may be incorrect.">
            <a:extLst>
              <a:ext uri="{FF2B5EF4-FFF2-40B4-BE49-F238E27FC236}">
                <a16:creationId xmlns:a16="http://schemas.microsoft.com/office/drawing/2014/main" id="{A180BF9E-E4D0-802A-866B-806AE871B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44" r="24716"/>
          <a:stretch/>
        </p:blipFill>
        <p:spPr>
          <a:xfrm>
            <a:off x="8250846" y="1034303"/>
            <a:ext cx="2318093" cy="504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55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1C01D17B-94D6-FFC1-99AC-2DCEBC53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5AA7F895-9A05-74FE-F5BC-22C772BA205C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Measurement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>
            <a:extLst>
              <a:ext uri="{FF2B5EF4-FFF2-40B4-BE49-F238E27FC236}">
                <a16:creationId xmlns:a16="http://schemas.microsoft.com/office/drawing/2014/main" id="{F6F6C754-84A5-79E2-EA7A-209EA7897CEE}"/>
              </a:ext>
            </a:extLst>
          </p:cNvPr>
          <p:cNvSpPr txBox="1"/>
          <p:nvPr/>
        </p:nvSpPr>
        <p:spPr>
          <a:xfrm>
            <a:off x="115900" y="1814606"/>
            <a:ext cx="10724820" cy="53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voltage on the HVDC busbar is measured by a DC resistive Voltage Divider (VD)</a:t>
            </a:r>
            <a:endParaRPr lang="en-US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5A4446-3936-6004-FBD3-3953674D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488" y="2489265"/>
            <a:ext cx="5483023" cy="35558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64163C-D7D0-D661-C475-7E2483639AE7}"/>
              </a:ext>
            </a:extLst>
          </p:cNvPr>
          <p:cNvSpPr txBox="1"/>
          <p:nvPr/>
        </p:nvSpPr>
        <p:spPr>
          <a:xfrm>
            <a:off x="3267532" y="6097998"/>
            <a:ext cx="55699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DC Transmission Systems: Line Commutated Converters. © GE Vernova, 2023</a:t>
            </a:r>
          </a:p>
        </p:txBody>
      </p:sp>
    </p:spTree>
    <p:extLst>
      <p:ext uri="{BB962C8B-B14F-4D97-AF65-F5344CB8AC3E}">
        <p14:creationId xmlns:p14="http://schemas.microsoft.com/office/powerpoint/2010/main" val="2575762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FD1B075A-2141-FE5D-C998-2F21F4F6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27FDA6FB-AA9F-1558-0407-3ADC10BEA97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Current Measurement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>
            <a:extLst>
              <a:ext uri="{FF2B5EF4-FFF2-40B4-BE49-F238E27FC236}">
                <a16:creationId xmlns:a16="http://schemas.microsoft.com/office/drawing/2014/main" id="{97CC7262-3872-4598-494B-7D243DE6AA19}"/>
              </a:ext>
            </a:extLst>
          </p:cNvPr>
          <p:cNvSpPr txBox="1"/>
          <p:nvPr/>
        </p:nvSpPr>
        <p:spPr>
          <a:xfrm>
            <a:off x="115900" y="1814606"/>
            <a:ext cx="7006260" cy="4512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Current Transducer (DCCT)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of DC current measurement</a:t>
            </a:r>
          </a:p>
          <a:p>
            <a:pPr marL="628650" marR="0" lvl="0" indent="-36036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Flux Current Transformers (ZFCTs)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36036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ptical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current transformers (OCT)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Measurement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accuracies of 0.2% or better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 frequency range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allow especially very fast protection scheme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Installation of the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ZFCTs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to be done over a bushing or cable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Diagram of a copper tube with wires and wires&#10;&#10;AI-generated content may be incorrect.">
            <a:extLst>
              <a:ext uri="{FF2B5EF4-FFF2-40B4-BE49-F238E27FC236}">
                <a16:creationId xmlns:a16="http://schemas.microsoft.com/office/drawing/2014/main" id="{1994E93E-63AF-0A6C-F5EF-3D6E8A198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78" r="6133"/>
          <a:stretch/>
        </p:blipFill>
        <p:spPr>
          <a:xfrm>
            <a:off x="7473620" y="1522300"/>
            <a:ext cx="4602480" cy="3267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DD47D0-1F55-F5A1-CF43-C39B48F96F19}"/>
              </a:ext>
            </a:extLst>
          </p:cNvPr>
          <p:cNvSpPr txBox="1"/>
          <p:nvPr/>
        </p:nvSpPr>
        <p:spPr>
          <a:xfrm>
            <a:off x="7473620" y="5017763"/>
            <a:ext cx="4073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Zero-flux Principle</a:t>
            </a:r>
            <a:endParaRPr lang="en-DE" dirty="0"/>
          </a:p>
          <a:p>
            <a:r>
              <a:rPr lang="en-US" dirty="0"/>
              <a:t>https://www.pm-sms.com/?page_id=12</a:t>
            </a:r>
          </a:p>
        </p:txBody>
      </p:sp>
    </p:spTree>
    <p:extLst>
      <p:ext uri="{BB962C8B-B14F-4D97-AF65-F5344CB8AC3E}">
        <p14:creationId xmlns:p14="http://schemas.microsoft.com/office/powerpoint/2010/main" val="4215267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1000</Words>
  <Application>Microsoft Office PowerPoint</Application>
  <PresentationFormat>Widescreen</PresentationFormat>
  <Paragraphs>169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Module 06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Martinec, Timothy J</dc:creator>
  <cp:lastModifiedBy>Starschich, Eugen</cp:lastModifiedBy>
  <cp:revision>7</cp:revision>
  <dcterms:created xsi:type="dcterms:W3CDTF">2023-06-22T15:25:22Z</dcterms:created>
  <dcterms:modified xsi:type="dcterms:W3CDTF">2025-04-04T03:22:00Z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